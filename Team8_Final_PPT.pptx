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0" r:id="rId2"/>
  </p:sldMasterIdLst>
  <p:notesMasterIdLst>
    <p:notesMasterId r:id="rId24"/>
  </p:notesMasterIdLst>
  <p:handoutMasterIdLst>
    <p:handoutMasterId r:id="rId25"/>
  </p:handoutMasterIdLst>
  <p:sldIdLst>
    <p:sldId id="258" r:id="rId3"/>
    <p:sldId id="377" r:id="rId4"/>
    <p:sldId id="391" r:id="rId5"/>
    <p:sldId id="392" r:id="rId6"/>
    <p:sldId id="393" r:id="rId7"/>
    <p:sldId id="394" r:id="rId8"/>
    <p:sldId id="395" r:id="rId9"/>
    <p:sldId id="396" r:id="rId10"/>
    <p:sldId id="398" r:id="rId11"/>
    <p:sldId id="397" r:id="rId12"/>
    <p:sldId id="411" r:id="rId13"/>
    <p:sldId id="399" r:id="rId14"/>
    <p:sldId id="400" r:id="rId15"/>
    <p:sldId id="401" r:id="rId16"/>
    <p:sldId id="403" r:id="rId17"/>
    <p:sldId id="404" r:id="rId18"/>
    <p:sldId id="405" r:id="rId19"/>
    <p:sldId id="406" r:id="rId20"/>
    <p:sldId id="407" r:id="rId21"/>
    <p:sldId id="374" r:id="rId22"/>
    <p:sldId id="410"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479D78E-41F3-A1F4-EC04-02F424684A7A}" name="usha rani" initials="ur" userId="ac3da7c9ac03e58b"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189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4066899-C096-4686-B300-E1D6AA42CDE9}" v="18" dt="2026-07-02T16:12:21.471"/>
    <p1510:client id="{E9B0078F-71CD-40F1-B7A0-85484F5377DB}" v="8" dt="2026-07-03T06:55:41.51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8370" autoAdjust="0"/>
    <p:restoredTop sz="95033" autoAdjust="0"/>
  </p:normalViewPr>
  <p:slideViewPr>
    <p:cSldViewPr snapToGrid="0" snapToObjects="1">
      <p:cViewPr varScale="1">
        <p:scale>
          <a:sx n="81" d="100"/>
          <a:sy n="81" d="100"/>
        </p:scale>
        <p:origin x="139" y="58"/>
      </p:cViewPr>
      <p:guideLst>
        <p:guide orient="horz" pos="2160"/>
        <p:guide pos="3840"/>
      </p:guideLst>
    </p:cSldViewPr>
  </p:slideViewPr>
  <p:outlineViewPr>
    <p:cViewPr>
      <p:scale>
        <a:sx n="33" d="100"/>
        <a:sy n="33" d="100"/>
      </p:scale>
      <p:origin x="0" y="-10094"/>
    </p:cViewPr>
  </p:outlineViewPr>
  <p:notesTextViewPr>
    <p:cViewPr>
      <p:scale>
        <a:sx n="1" d="1"/>
        <a:sy n="1" d="1"/>
      </p:scale>
      <p:origin x="0" y="0"/>
    </p:cViewPr>
  </p:notesTextViewPr>
  <p:notesViewPr>
    <p:cSldViewPr snapToGrid="0" snapToObjects="1">
      <p:cViewPr varScale="1">
        <p:scale>
          <a:sx n="62" d="100"/>
          <a:sy n="62" d="100"/>
        </p:scale>
        <p:origin x="3226" y="77"/>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handoutMaster" Target="handoutMasters/handout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31" Type="http://schemas.microsoft.com/office/2018/10/relationships/authors" Target="author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viewProps" Target="viewProps.xml"/><Relationship Id="rId30" Type="http://schemas.microsoft.com/office/2015/10/relationships/revisionInfo" Target="revisionInfo.xml"/></Relationships>
</file>

<file path=ppt/handoutMasters/_rels/handoutMaster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EFD0E32-84B7-61F7-BC6E-7F3D3E58F42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F28D96D9-5F98-A44D-2018-D6A2A308A4F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69F6064-4237-BA4C-A655-B64A9E0DF723}" type="datetimeFigureOut">
              <a:rPr lang="en-US" smtClean="0"/>
              <a:t>10/2/2026</a:t>
            </a:fld>
            <a:endParaRPr lang="en-US"/>
          </a:p>
        </p:txBody>
      </p:sp>
      <p:sp>
        <p:nvSpPr>
          <p:cNvPr id="4" name="Footer Placeholder 3">
            <a:extLst>
              <a:ext uri="{FF2B5EF4-FFF2-40B4-BE49-F238E27FC236}">
                <a16:creationId xmlns:a16="http://schemas.microsoft.com/office/drawing/2014/main" id="{DA93AFF6-B32C-BF80-479E-15EDD755C5E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911E1A79-2016-95C1-5829-B295A2C9857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EFBAABA-A336-9B4F-BB34-8D7F4005576F}" type="slidenum">
              <a:rPr lang="en-US" smtClean="0"/>
              <a:t>‹#›</a:t>
            </a:fld>
            <a:endParaRPr lang="en-US"/>
          </a:p>
        </p:txBody>
      </p:sp>
      <p:pic>
        <p:nvPicPr>
          <p:cNvPr id="7" name="Picture 6">
            <a:extLst>
              <a:ext uri="{FF2B5EF4-FFF2-40B4-BE49-F238E27FC236}">
                <a16:creationId xmlns:a16="http://schemas.microsoft.com/office/drawing/2014/main" id="{3E12229D-753E-D112-EA38-F8EB6301E656}"/>
              </a:ext>
            </a:extLst>
          </p:cNvPr>
          <p:cNvPicPr>
            <a:picLocks noChangeAspect="1"/>
          </p:cNvPicPr>
          <p:nvPr/>
        </p:nvPicPr>
        <p:blipFill>
          <a:blip r:embed="rId2"/>
          <a:stretch>
            <a:fillRect/>
          </a:stretch>
        </p:blipFill>
        <p:spPr>
          <a:xfrm>
            <a:off x="0" y="0"/>
            <a:ext cx="1116374" cy="458788"/>
          </a:xfrm>
          <a:prstGeom prst="rect">
            <a:avLst/>
          </a:prstGeom>
        </p:spPr>
      </p:pic>
    </p:spTree>
    <p:extLst>
      <p:ext uri="{BB962C8B-B14F-4D97-AF65-F5344CB8AC3E}">
        <p14:creationId xmlns:p14="http://schemas.microsoft.com/office/powerpoint/2010/main" val="259058581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5A854B6-73EE-3647-B9F0-9FDDAF047BDA}" type="datetimeFigureOut">
              <a:rPr lang="en-US" smtClean="0"/>
              <a:t>10/2/2026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8329816-4D5E-3B44-810B-F5C416F14AE8}" type="slidenum">
              <a:rPr lang="en-US" smtClean="0"/>
              <a:t>‹#›</a:t>
            </a:fld>
            <a:endParaRPr lang="en-US"/>
          </a:p>
        </p:txBody>
      </p:sp>
    </p:spTree>
    <p:extLst>
      <p:ext uri="{BB962C8B-B14F-4D97-AF65-F5344CB8AC3E}">
        <p14:creationId xmlns:p14="http://schemas.microsoft.com/office/powerpoint/2010/main" val="41871552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8329816-4D5E-3B44-810B-F5C416F14AE8}" type="slidenum">
              <a:rPr lang="en-US" smtClean="0"/>
              <a:t>1</a:t>
            </a:fld>
            <a:endParaRPr lang="en-US"/>
          </a:p>
        </p:txBody>
      </p:sp>
    </p:spTree>
    <p:extLst>
      <p:ext uri="{BB962C8B-B14F-4D97-AF65-F5344CB8AC3E}">
        <p14:creationId xmlns:p14="http://schemas.microsoft.com/office/powerpoint/2010/main" val="3388220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8329816-4D5E-3B44-810B-F5C416F14AE8}" type="slidenum">
              <a:rPr lang="en-US" smtClean="0"/>
              <a:t>2</a:t>
            </a:fld>
            <a:endParaRPr lang="en-US"/>
          </a:p>
        </p:txBody>
      </p:sp>
    </p:spTree>
    <p:extLst>
      <p:ext uri="{BB962C8B-B14F-4D97-AF65-F5344CB8AC3E}">
        <p14:creationId xmlns:p14="http://schemas.microsoft.com/office/powerpoint/2010/main" val="8587103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489486-861A-2ECA-4D40-39E5F67E8E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C5A513-C79F-B540-0019-433BDBACF3A1}"/>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B2E0A3D1-26CD-4F17-E4CA-311B4310EE1C}"/>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F66467B8-2D06-EBB4-C77E-EA980BEAC23E}"/>
              </a:ext>
            </a:extLst>
          </p:cNvPr>
          <p:cNvSpPr>
            <a:spLocks noGrp="1"/>
          </p:cNvSpPr>
          <p:nvPr>
            <p:ph type="sldNum" sz="quarter" idx="5"/>
          </p:nvPr>
        </p:nvSpPr>
        <p:spPr/>
        <p:txBody>
          <a:bodyPr/>
          <a:lstStyle/>
          <a:p>
            <a:fld id="{68329816-4D5E-3B44-810B-F5C416F14AE8}" type="slidenum">
              <a:rPr lang="en-US" smtClean="0"/>
              <a:t>3</a:t>
            </a:fld>
            <a:endParaRPr lang="en-US"/>
          </a:p>
        </p:txBody>
      </p:sp>
    </p:spTree>
    <p:extLst>
      <p:ext uri="{BB962C8B-B14F-4D97-AF65-F5344CB8AC3E}">
        <p14:creationId xmlns:p14="http://schemas.microsoft.com/office/powerpoint/2010/main" val="25261947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84FB51-0CCD-7E30-006C-24572EE0CB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5B3405-B72E-77E8-AC88-39C8BF27F8D2}"/>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7B247CED-38BD-61BC-C289-9935025A3DF4}"/>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073F3921-5CCB-99B2-BEAE-679945FC10B6}"/>
              </a:ext>
            </a:extLst>
          </p:cNvPr>
          <p:cNvSpPr>
            <a:spLocks noGrp="1"/>
          </p:cNvSpPr>
          <p:nvPr>
            <p:ph type="sldNum" sz="quarter" idx="5"/>
          </p:nvPr>
        </p:nvSpPr>
        <p:spPr/>
        <p:txBody>
          <a:bodyPr/>
          <a:lstStyle/>
          <a:p>
            <a:fld id="{68329816-4D5E-3B44-810B-F5C416F14AE8}" type="slidenum">
              <a:rPr lang="en-US" smtClean="0"/>
              <a:t>4</a:t>
            </a:fld>
            <a:endParaRPr lang="en-US"/>
          </a:p>
        </p:txBody>
      </p:sp>
    </p:spTree>
    <p:extLst>
      <p:ext uri="{BB962C8B-B14F-4D97-AF65-F5344CB8AC3E}">
        <p14:creationId xmlns:p14="http://schemas.microsoft.com/office/powerpoint/2010/main" val="1865306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31CFD8-ECD5-0783-2AB0-ACFC3273EB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C7F17B-D2F6-662D-52FF-83B2BA2D252D}"/>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B065DD85-E53A-AA51-8A24-6FD75FA0A7BF}"/>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4FBC8F9F-8E69-312B-01C2-05B902ACFE43}"/>
              </a:ext>
            </a:extLst>
          </p:cNvPr>
          <p:cNvSpPr>
            <a:spLocks noGrp="1"/>
          </p:cNvSpPr>
          <p:nvPr>
            <p:ph type="sldNum" sz="quarter" idx="5"/>
          </p:nvPr>
        </p:nvSpPr>
        <p:spPr/>
        <p:txBody>
          <a:bodyPr/>
          <a:lstStyle/>
          <a:p>
            <a:fld id="{68329816-4D5E-3B44-810B-F5C416F14AE8}" type="slidenum">
              <a:rPr lang="en-US" smtClean="0"/>
              <a:t>5</a:t>
            </a:fld>
            <a:endParaRPr lang="en-US"/>
          </a:p>
        </p:txBody>
      </p:sp>
    </p:spTree>
    <p:extLst>
      <p:ext uri="{BB962C8B-B14F-4D97-AF65-F5344CB8AC3E}">
        <p14:creationId xmlns:p14="http://schemas.microsoft.com/office/powerpoint/2010/main" val="13402778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4A3961-5DE8-686E-3894-1EC4CE3589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96716B-DE78-BE6A-065C-700B8CB01721}"/>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35D0C432-4A58-F09A-00A6-554859B76F70}"/>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4764D428-282E-3F76-CEAD-7497380C202A}"/>
              </a:ext>
            </a:extLst>
          </p:cNvPr>
          <p:cNvSpPr>
            <a:spLocks noGrp="1"/>
          </p:cNvSpPr>
          <p:nvPr>
            <p:ph type="sldNum" sz="quarter" idx="5"/>
          </p:nvPr>
        </p:nvSpPr>
        <p:spPr/>
        <p:txBody>
          <a:bodyPr/>
          <a:lstStyle/>
          <a:p>
            <a:fld id="{68329816-4D5E-3B44-810B-F5C416F14AE8}" type="slidenum">
              <a:rPr lang="en-US" smtClean="0"/>
              <a:t>6</a:t>
            </a:fld>
            <a:endParaRPr lang="en-US"/>
          </a:p>
        </p:txBody>
      </p:sp>
    </p:spTree>
    <p:extLst>
      <p:ext uri="{BB962C8B-B14F-4D97-AF65-F5344CB8AC3E}">
        <p14:creationId xmlns:p14="http://schemas.microsoft.com/office/powerpoint/2010/main" val="16054594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0577CB-4429-8372-ECF7-B3B85B0AAB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5E879B-CAC4-B338-544C-CF4E8482F2CF}"/>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3DAC0575-544B-58B3-87C9-8D914A1D0DC5}"/>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DEB215F5-CFE1-7F26-9CD8-10AC466630CA}"/>
              </a:ext>
            </a:extLst>
          </p:cNvPr>
          <p:cNvSpPr>
            <a:spLocks noGrp="1"/>
          </p:cNvSpPr>
          <p:nvPr>
            <p:ph type="sldNum" sz="quarter" idx="5"/>
          </p:nvPr>
        </p:nvSpPr>
        <p:spPr/>
        <p:txBody>
          <a:bodyPr/>
          <a:lstStyle/>
          <a:p>
            <a:fld id="{68329816-4D5E-3B44-810B-F5C416F14AE8}" type="slidenum">
              <a:rPr lang="en-US" smtClean="0"/>
              <a:t>7</a:t>
            </a:fld>
            <a:endParaRPr lang="en-US"/>
          </a:p>
        </p:txBody>
      </p:sp>
    </p:spTree>
    <p:extLst>
      <p:ext uri="{BB962C8B-B14F-4D97-AF65-F5344CB8AC3E}">
        <p14:creationId xmlns:p14="http://schemas.microsoft.com/office/powerpoint/2010/main" val="2699944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744B66-EC91-2BD6-7D3F-FB9E75F43E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10EFCE-537F-8314-27E9-BA17DC4235B6}"/>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BA71D28A-95EE-C579-9938-AA572448742B}"/>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37DA88E0-9C15-85FD-D2EF-741091DD3E66}"/>
              </a:ext>
            </a:extLst>
          </p:cNvPr>
          <p:cNvSpPr>
            <a:spLocks noGrp="1"/>
          </p:cNvSpPr>
          <p:nvPr>
            <p:ph type="sldNum" sz="quarter" idx="5"/>
          </p:nvPr>
        </p:nvSpPr>
        <p:spPr/>
        <p:txBody>
          <a:bodyPr/>
          <a:lstStyle/>
          <a:p>
            <a:fld id="{68329816-4D5E-3B44-810B-F5C416F14AE8}" type="slidenum">
              <a:rPr lang="en-US" smtClean="0"/>
              <a:t>8</a:t>
            </a:fld>
            <a:endParaRPr lang="en-US"/>
          </a:p>
        </p:txBody>
      </p:sp>
    </p:spTree>
    <p:extLst>
      <p:ext uri="{BB962C8B-B14F-4D97-AF65-F5344CB8AC3E}">
        <p14:creationId xmlns:p14="http://schemas.microsoft.com/office/powerpoint/2010/main" val="164540678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192C9F-32E2-1DF3-D933-ED26BBAABE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CBD77D-896E-36B8-476D-3DB9858E9458}"/>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21481400-FC6F-EC9E-B10C-065E4BC062AD}"/>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2B4178FD-5294-B25F-1455-AC41BC9942CA}"/>
              </a:ext>
            </a:extLst>
          </p:cNvPr>
          <p:cNvSpPr>
            <a:spLocks noGrp="1"/>
          </p:cNvSpPr>
          <p:nvPr>
            <p:ph type="sldNum" sz="quarter" idx="5"/>
          </p:nvPr>
        </p:nvSpPr>
        <p:spPr/>
        <p:txBody>
          <a:bodyPr/>
          <a:lstStyle/>
          <a:p>
            <a:fld id="{68329816-4D5E-3B44-810B-F5C416F14AE8}" type="slidenum">
              <a:rPr lang="en-US" smtClean="0"/>
              <a:t>9</a:t>
            </a:fld>
            <a:endParaRPr lang="en-US"/>
          </a:p>
        </p:txBody>
      </p:sp>
    </p:spTree>
    <p:extLst>
      <p:ext uri="{BB962C8B-B14F-4D97-AF65-F5344CB8AC3E}">
        <p14:creationId xmlns:p14="http://schemas.microsoft.com/office/powerpoint/2010/main" val="174333250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7A88E8-8740-3949-BE64-BB62EA08D2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22BF00-6CFB-1C09-C3B7-8F0F835403BA}"/>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4B9D5D7B-5FA1-6B53-71F8-A93818030CEC}"/>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F6443D1A-5BCA-DD1F-4EB8-C6373CACAA6B}"/>
              </a:ext>
            </a:extLst>
          </p:cNvPr>
          <p:cNvSpPr>
            <a:spLocks noGrp="1"/>
          </p:cNvSpPr>
          <p:nvPr>
            <p:ph type="sldNum" sz="quarter" idx="5"/>
          </p:nvPr>
        </p:nvSpPr>
        <p:spPr/>
        <p:txBody>
          <a:bodyPr/>
          <a:lstStyle/>
          <a:p>
            <a:fld id="{68329816-4D5E-3B44-810B-F5C416F14AE8}" type="slidenum">
              <a:rPr lang="en-US" smtClean="0"/>
              <a:t>10</a:t>
            </a:fld>
            <a:endParaRPr lang="en-US"/>
          </a:p>
        </p:txBody>
      </p:sp>
    </p:spTree>
    <p:extLst>
      <p:ext uri="{BB962C8B-B14F-4D97-AF65-F5344CB8AC3E}">
        <p14:creationId xmlns:p14="http://schemas.microsoft.com/office/powerpoint/2010/main" val="349592840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33B3F4-67AD-8C5F-89DC-814E592589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A6E9A49-7E1D-F562-B1E3-CFBD7E07F2D9}"/>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FA1546CF-6095-B0E7-2A76-5850681E8493}"/>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49073D6E-88F0-C334-FD9B-5FC2F5A48CA4}"/>
              </a:ext>
            </a:extLst>
          </p:cNvPr>
          <p:cNvSpPr>
            <a:spLocks noGrp="1"/>
          </p:cNvSpPr>
          <p:nvPr>
            <p:ph type="sldNum" sz="quarter" idx="5"/>
          </p:nvPr>
        </p:nvSpPr>
        <p:spPr/>
        <p:txBody>
          <a:bodyPr/>
          <a:lstStyle/>
          <a:p>
            <a:fld id="{68329816-4D5E-3B44-810B-F5C416F14AE8}" type="slidenum">
              <a:rPr lang="en-US" smtClean="0"/>
              <a:t>11</a:t>
            </a:fld>
            <a:endParaRPr lang="en-US"/>
          </a:p>
        </p:txBody>
      </p:sp>
    </p:spTree>
    <p:extLst>
      <p:ext uri="{BB962C8B-B14F-4D97-AF65-F5344CB8AC3E}">
        <p14:creationId xmlns:p14="http://schemas.microsoft.com/office/powerpoint/2010/main" val="34785084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227E06-5BF0-54B9-FB5D-CFB52D43BFEF}"/>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226EA4E6-D507-DC8D-31AA-A4CB32D7CEC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62C99788-2E86-FADA-072C-884B0261564B}"/>
              </a:ext>
            </a:extLst>
          </p:cNvPr>
          <p:cNvSpPr>
            <a:spLocks noGrp="1"/>
          </p:cNvSpPr>
          <p:nvPr>
            <p:ph type="dt" sz="half" idx="10"/>
          </p:nvPr>
        </p:nvSpPr>
        <p:spPr/>
        <p:txBody>
          <a:bodyPr/>
          <a:lstStyle/>
          <a:p>
            <a:fld id="{E0DA504A-D052-4F2D-906E-4CCCD67E5352}" type="datetime1">
              <a:rPr lang="en-IN" smtClean="0"/>
              <a:t>02-10-2026</a:t>
            </a:fld>
            <a:endParaRPr lang="en-US"/>
          </a:p>
        </p:txBody>
      </p:sp>
      <p:sp>
        <p:nvSpPr>
          <p:cNvPr id="5" name="Footer Placeholder 4">
            <a:extLst>
              <a:ext uri="{FF2B5EF4-FFF2-40B4-BE49-F238E27FC236}">
                <a16:creationId xmlns:a16="http://schemas.microsoft.com/office/drawing/2014/main" id="{A54D1ADA-8991-D408-DA0A-FE3B043FE895}"/>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037DF78D-056F-7C9E-8F10-682094624882}"/>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2232911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4DA370-C77E-4354-33A4-1D2D9DDD6F4B}"/>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43FE7F8-1A57-17F5-243A-454005CCDF16}"/>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49EAE72D-6D76-FAB8-D597-99BF2087AA5B}"/>
              </a:ext>
            </a:extLst>
          </p:cNvPr>
          <p:cNvSpPr>
            <a:spLocks noGrp="1"/>
          </p:cNvSpPr>
          <p:nvPr>
            <p:ph type="dt" sz="half" idx="10"/>
          </p:nvPr>
        </p:nvSpPr>
        <p:spPr/>
        <p:txBody>
          <a:bodyPr/>
          <a:lstStyle/>
          <a:p>
            <a:fld id="{3C447009-55DF-4EA5-900B-29AFB7C8438A}" type="datetime1">
              <a:rPr lang="en-IN" smtClean="0"/>
              <a:t>02-10-2026</a:t>
            </a:fld>
            <a:endParaRPr lang="en-US"/>
          </a:p>
        </p:txBody>
      </p:sp>
      <p:sp>
        <p:nvSpPr>
          <p:cNvPr id="5" name="Footer Placeholder 4">
            <a:extLst>
              <a:ext uri="{FF2B5EF4-FFF2-40B4-BE49-F238E27FC236}">
                <a16:creationId xmlns:a16="http://schemas.microsoft.com/office/drawing/2014/main" id="{91860C41-C703-1443-60E7-2BEF34D36208}"/>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B3BB3600-770E-6D67-2A66-D2FECF5D3BC6}"/>
              </a:ext>
            </a:extLst>
          </p:cNvPr>
          <p:cNvSpPr>
            <a:spLocks noGrp="1"/>
          </p:cNvSpPr>
          <p:nvPr>
            <p:ph type="sldNum" sz="quarter" idx="12"/>
          </p:nvPr>
        </p:nvSpPr>
        <p:spPr/>
        <p:txBody>
          <a:bodyPr/>
          <a:lstStyle/>
          <a:p>
            <a:fld id="{B961B71F-4B40-8942-BB88-E0F5C0B46E10}" type="slidenum">
              <a:rPr lang="en-US" smtClean="0"/>
              <a:t>‹#›</a:t>
            </a:fld>
            <a:endParaRPr lang="en-US"/>
          </a:p>
        </p:txBody>
      </p:sp>
      <p:sp>
        <p:nvSpPr>
          <p:cNvPr id="8" name="Rectangle 7">
            <a:extLst>
              <a:ext uri="{FF2B5EF4-FFF2-40B4-BE49-F238E27FC236}">
                <a16:creationId xmlns:a16="http://schemas.microsoft.com/office/drawing/2014/main" id="{8E776DCD-546C-A1AC-C961-3F3EEC504416}"/>
              </a:ext>
            </a:extLst>
          </p:cNvPr>
          <p:cNvSpPr/>
          <p:nvPr userDrawn="1"/>
        </p:nvSpPr>
        <p:spPr>
          <a:xfrm>
            <a:off x="87228" y="60325"/>
            <a:ext cx="1532022" cy="620712"/>
          </a:xfrm>
          <a:prstGeom prst="rect">
            <a:avLst/>
          </a:prstGeom>
          <a:blipFill dpi="0" rotWithShape="1">
            <a:blip r:embed="rId2">
              <a:alphaModFix amt="78101"/>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106417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4A5DA9-698C-D133-BCF7-93A02E210C28}"/>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3FA85215-9C62-1486-DEC7-AF8E59725B1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0AD292FD-C465-3FCB-1CEB-331C31A973F6}"/>
              </a:ext>
            </a:extLst>
          </p:cNvPr>
          <p:cNvSpPr>
            <a:spLocks noGrp="1"/>
          </p:cNvSpPr>
          <p:nvPr>
            <p:ph type="dt" sz="half" idx="10"/>
          </p:nvPr>
        </p:nvSpPr>
        <p:spPr/>
        <p:txBody>
          <a:bodyPr/>
          <a:lstStyle/>
          <a:p>
            <a:fld id="{FFE8B550-430E-4E00-8584-398912EDCDA8}" type="datetime1">
              <a:rPr lang="en-IN" smtClean="0"/>
              <a:t>02-10-2026</a:t>
            </a:fld>
            <a:endParaRPr lang="en-US"/>
          </a:p>
        </p:txBody>
      </p:sp>
      <p:sp>
        <p:nvSpPr>
          <p:cNvPr id="5" name="Footer Placeholder 4">
            <a:extLst>
              <a:ext uri="{FF2B5EF4-FFF2-40B4-BE49-F238E27FC236}">
                <a16:creationId xmlns:a16="http://schemas.microsoft.com/office/drawing/2014/main" id="{03196C18-4538-A1F2-0B35-7684E5B30A32}"/>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8F05BEFA-16A3-B084-9011-B7E85C9C926E}"/>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2443703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E3A91F-6631-AA20-E58B-064235B6DD1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B40029CD-C8C6-CEFE-D059-40BEA299756E}"/>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B175D9AB-9E5E-59E2-9DA3-6C54D45EAC41}"/>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2A3C372B-55E2-4467-1C5C-88EAE728396A}"/>
              </a:ext>
            </a:extLst>
          </p:cNvPr>
          <p:cNvSpPr>
            <a:spLocks noGrp="1"/>
          </p:cNvSpPr>
          <p:nvPr>
            <p:ph type="dt" sz="half" idx="10"/>
          </p:nvPr>
        </p:nvSpPr>
        <p:spPr/>
        <p:txBody>
          <a:bodyPr/>
          <a:lstStyle/>
          <a:p>
            <a:fld id="{BF3515C1-FC0C-48DC-AA13-5A7440F04A46}" type="datetime1">
              <a:rPr lang="en-IN" smtClean="0"/>
              <a:t>02-10-2026</a:t>
            </a:fld>
            <a:endParaRPr lang="en-US"/>
          </a:p>
        </p:txBody>
      </p:sp>
      <p:sp>
        <p:nvSpPr>
          <p:cNvPr id="6" name="Footer Placeholder 5">
            <a:extLst>
              <a:ext uri="{FF2B5EF4-FFF2-40B4-BE49-F238E27FC236}">
                <a16:creationId xmlns:a16="http://schemas.microsoft.com/office/drawing/2014/main" id="{CC0897BD-CB93-AC5A-9B15-FD7F4D952953}"/>
              </a:ext>
            </a:extLst>
          </p:cNvPr>
          <p:cNvSpPr>
            <a:spLocks noGrp="1"/>
          </p:cNvSpPr>
          <p:nvPr>
            <p:ph type="ftr" sz="quarter" idx="11"/>
          </p:nvPr>
        </p:nvSpPr>
        <p:spPr/>
        <p:txBody>
          <a:bodyPr/>
          <a:lstStyle/>
          <a:p>
            <a:r>
              <a:rPr lang="en-US"/>
              <a:t>0th REVIEW           </a:t>
            </a:r>
          </a:p>
        </p:txBody>
      </p:sp>
      <p:sp>
        <p:nvSpPr>
          <p:cNvPr id="7" name="Slide Number Placeholder 6">
            <a:extLst>
              <a:ext uri="{FF2B5EF4-FFF2-40B4-BE49-F238E27FC236}">
                <a16:creationId xmlns:a16="http://schemas.microsoft.com/office/drawing/2014/main" id="{8D5540F5-8BB9-4C4C-626E-5D45C97E3728}"/>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3082530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D68A3B-B4EE-2816-3ADC-1938541424A2}"/>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261AF86E-35F8-453B-F58E-48D8C4903AE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D63D8923-FBC0-8866-8350-696FB3D22BF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E6545281-3CB5-361A-7D56-C6E37E290D3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F9F62343-9DB8-07DC-AD19-22AE6A7E5D6D}"/>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3FEB0191-CD7B-6170-8655-A3CD1009BEA8}"/>
              </a:ext>
            </a:extLst>
          </p:cNvPr>
          <p:cNvSpPr>
            <a:spLocks noGrp="1"/>
          </p:cNvSpPr>
          <p:nvPr>
            <p:ph type="dt" sz="half" idx="10"/>
          </p:nvPr>
        </p:nvSpPr>
        <p:spPr/>
        <p:txBody>
          <a:bodyPr/>
          <a:lstStyle/>
          <a:p>
            <a:fld id="{06C4A9D0-F765-45B1-928F-556B91D2C522}" type="datetime1">
              <a:rPr lang="en-IN" smtClean="0"/>
              <a:t>02-10-2026</a:t>
            </a:fld>
            <a:endParaRPr lang="en-US"/>
          </a:p>
        </p:txBody>
      </p:sp>
      <p:sp>
        <p:nvSpPr>
          <p:cNvPr id="8" name="Footer Placeholder 7">
            <a:extLst>
              <a:ext uri="{FF2B5EF4-FFF2-40B4-BE49-F238E27FC236}">
                <a16:creationId xmlns:a16="http://schemas.microsoft.com/office/drawing/2014/main" id="{CD680C4C-B6E8-81B1-E2F5-D6264E3F6A44}"/>
              </a:ext>
            </a:extLst>
          </p:cNvPr>
          <p:cNvSpPr>
            <a:spLocks noGrp="1"/>
          </p:cNvSpPr>
          <p:nvPr>
            <p:ph type="ftr" sz="quarter" idx="11"/>
          </p:nvPr>
        </p:nvSpPr>
        <p:spPr/>
        <p:txBody>
          <a:bodyPr/>
          <a:lstStyle/>
          <a:p>
            <a:r>
              <a:rPr lang="en-US"/>
              <a:t>0th REVIEW           </a:t>
            </a:r>
          </a:p>
        </p:txBody>
      </p:sp>
      <p:sp>
        <p:nvSpPr>
          <p:cNvPr id="9" name="Slide Number Placeholder 8">
            <a:extLst>
              <a:ext uri="{FF2B5EF4-FFF2-40B4-BE49-F238E27FC236}">
                <a16:creationId xmlns:a16="http://schemas.microsoft.com/office/drawing/2014/main" id="{10C8B11F-5860-03B4-E71F-3467444F9A21}"/>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8280055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D7A6C5-1A49-C01E-B839-45967150D976}"/>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06C47471-9D6F-27AE-9B05-71D6BF96E327}"/>
              </a:ext>
            </a:extLst>
          </p:cNvPr>
          <p:cNvSpPr>
            <a:spLocks noGrp="1"/>
          </p:cNvSpPr>
          <p:nvPr>
            <p:ph type="dt" sz="half" idx="10"/>
          </p:nvPr>
        </p:nvSpPr>
        <p:spPr/>
        <p:txBody>
          <a:bodyPr/>
          <a:lstStyle/>
          <a:p>
            <a:fld id="{2420E6F3-7E24-4BDE-BB37-BD18A6966701}" type="datetime1">
              <a:rPr lang="en-IN" smtClean="0"/>
              <a:t>02-10-2026</a:t>
            </a:fld>
            <a:endParaRPr lang="en-US"/>
          </a:p>
        </p:txBody>
      </p:sp>
      <p:sp>
        <p:nvSpPr>
          <p:cNvPr id="4" name="Footer Placeholder 3">
            <a:extLst>
              <a:ext uri="{FF2B5EF4-FFF2-40B4-BE49-F238E27FC236}">
                <a16:creationId xmlns:a16="http://schemas.microsoft.com/office/drawing/2014/main" id="{775AFD67-19CE-C1CD-207C-EF612C5A6F54}"/>
              </a:ext>
            </a:extLst>
          </p:cNvPr>
          <p:cNvSpPr>
            <a:spLocks noGrp="1"/>
          </p:cNvSpPr>
          <p:nvPr>
            <p:ph type="ftr" sz="quarter" idx="11"/>
          </p:nvPr>
        </p:nvSpPr>
        <p:spPr/>
        <p:txBody>
          <a:bodyPr/>
          <a:lstStyle/>
          <a:p>
            <a:r>
              <a:rPr lang="en-US"/>
              <a:t>0th REVIEW           </a:t>
            </a:r>
          </a:p>
        </p:txBody>
      </p:sp>
      <p:sp>
        <p:nvSpPr>
          <p:cNvPr id="5" name="Slide Number Placeholder 4">
            <a:extLst>
              <a:ext uri="{FF2B5EF4-FFF2-40B4-BE49-F238E27FC236}">
                <a16:creationId xmlns:a16="http://schemas.microsoft.com/office/drawing/2014/main" id="{C80D7506-CEE9-31E5-7D10-A0BD1B2B03AF}"/>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2358805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12BBBBF-B095-FC7E-61BE-572DFB7B12F6}"/>
              </a:ext>
            </a:extLst>
          </p:cNvPr>
          <p:cNvSpPr>
            <a:spLocks noGrp="1"/>
          </p:cNvSpPr>
          <p:nvPr>
            <p:ph type="dt" sz="half" idx="10"/>
          </p:nvPr>
        </p:nvSpPr>
        <p:spPr/>
        <p:txBody>
          <a:bodyPr/>
          <a:lstStyle/>
          <a:p>
            <a:fld id="{63113449-4DF0-4F1F-A3E4-097B1714C7C4}" type="datetime1">
              <a:rPr lang="en-IN" smtClean="0"/>
              <a:t>02-10-2026</a:t>
            </a:fld>
            <a:endParaRPr lang="en-US"/>
          </a:p>
        </p:txBody>
      </p:sp>
      <p:sp>
        <p:nvSpPr>
          <p:cNvPr id="3" name="Footer Placeholder 2">
            <a:extLst>
              <a:ext uri="{FF2B5EF4-FFF2-40B4-BE49-F238E27FC236}">
                <a16:creationId xmlns:a16="http://schemas.microsoft.com/office/drawing/2014/main" id="{247555D4-8ECB-AFFE-0E72-A206E4098EE1}"/>
              </a:ext>
            </a:extLst>
          </p:cNvPr>
          <p:cNvSpPr>
            <a:spLocks noGrp="1"/>
          </p:cNvSpPr>
          <p:nvPr>
            <p:ph type="ftr" sz="quarter" idx="11"/>
          </p:nvPr>
        </p:nvSpPr>
        <p:spPr/>
        <p:txBody>
          <a:bodyPr/>
          <a:lstStyle/>
          <a:p>
            <a:r>
              <a:rPr lang="en-US"/>
              <a:t>0th REVIEW           </a:t>
            </a:r>
          </a:p>
        </p:txBody>
      </p:sp>
      <p:sp>
        <p:nvSpPr>
          <p:cNvPr id="4" name="Slide Number Placeholder 3">
            <a:extLst>
              <a:ext uri="{FF2B5EF4-FFF2-40B4-BE49-F238E27FC236}">
                <a16:creationId xmlns:a16="http://schemas.microsoft.com/office/drawing/2014/main" id="{B2E9EB7F-0F36-6AF2-5A6E-D350360EFF58}"/>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5439754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AF3453-54A8-457E-0F66-9BE958D9157D}"/>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80CE50AE-B8BE-E1FF-F3BA-8093082215D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D1DA6038-C8B1-F7F2-5CA8-15CFE38CBD3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85097CAE-AF61-8AFD-5350-97D8044E1275}"/>
              </a:ext>
            </a:extLst>
          </p:cNvPr>
          <p:cNvSpPr>
            <a:spLocks noGrp="1"/>
          </p:cNvSpPr>
          <p:nvPr>
            <p:ph type="dt" sz="half" idx="10"/>
          </p:nvPr>
        </p:nvSpPr>
        <p:spPr/>
        <p:txBody>
          <a:bodyPr/>
          <a:lstStyle/>
          <a:p>
            <a:fld id="{7CF4166F-CD67-4CEB-8DD7-1E38016562AC}" type="datetime1">
              <a:rPr lang="en-IN" smtClean="0"/>
              <a:t>02-10-2026</a:t>
            </a:fld>
            <a:endParaRPr lang="en-US"/>
          </a:p>
        </p:txBody>
      </p:sp>
      <p:sp>
        <p:nvSpPr>
          <p:cNvPr id="6" name="Footer Placeholder 5">
            <a:extLst>
              <a:ext uri="{FF2B5EF4-FFF2-40B4-BE49-F238E27FC236}">
                <a16:creationId xmlns:a16="http://schemas.microsoft.com/office/drawing/2014/main" id="{9A9E989E-AF43-DFDB-D9DD-E85DED3C09B0}"/>
              </a:ext>
            </a:extLst>
          </p:cNvPr>
          <p:cNvSpPr>
            <a:spLocks noGrp="1"/>
          </p:cNvSpPr>
          <p:nvPr>
            <p:ph type="ftr" sz="quarter" idx="11"/>
          </p:nvPr>
        </p:nvSpPr>
        <p:spPr/>
        <p:txBody>
          <a:bodyPr/>
          <a:lstStyle/>
          <a:p>
            <a:r>
              <a:rPr lang="en-US"/>
              <a:t>0th REVIEW           </a:t>
            </a:r>
          </a:p>
        </p:txBody>
      </p:sp>
      <p:sp>
        <p:nvSpPr>
          <p:cNvPr id="7" name="Slide Number Placeholder 6">
            <a:extLst>
              <a:ext uri="{FF2B5EF4-FFF2-40B4-BE49-F238E27FC236}">
                <a16:creationId xmlns:a16="http://schemas.microsoft.com/office/drawing/2014/main" id="{60FBCAA9-93EB-8A4D-BB9C-2479D593509A}"/>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6904234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BCE57A-1FB8-E230-296B-702500A0D499}"/>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3C470CF4-1245-8E91-196B-2297C07C97E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FC54EA7-CAD7-C04A-6487-F7D1660330A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F3F31731-B315-1CCB-7EEF-B7C7EC9254AA}"/>
              </a:ext>
            </a:extLst>
          </p:cNvPr>
          <p:cNvSpPr>
            <a:spLocks noGrp="1"/>
          </p:cNvSpPr>
          <p:nvPr>
            <p:ph type="dt" sz="half" idx="10"/>
          </p:nvPr>
        </p:nvSpPr>
        <p:spPr/>
        <p:txBody>
          <a:bodyPr/>
          <a:lstStyle/>
          <a:p>
            <a:fld id="{9178F83E-6F8A-4D66-8D97-D167DE305BE2}" type="datetime1">
              <a:rPr lang="en-IN" smtClean="0"/>
              <a:t>02-10-2026</a:t>
            </a:fld>
            <a:endParaRPr lang="en-US"/>
          </a:p>
        </p:txBody>
      </p:sp>
      <p:sp>
        <p:nvSpPr>
          <p:cNvPr id="6" name="Footer Placeholder 5">
            <a:extLst>
              <a:ext uri="{FF2B5EF4-FFF2-40B4-BE49-F238E27FC236}">
                <a16:creationId xmlns:a16="http://schemas.microsoft.com/office/drawing/2014/main" id="{C34DE31E-F8C7-4C00-C40D-FE2821B70626}"/>
              </a:ext>
            </a:extLst>
          </p:cNvPr>
          <p:cNvSpPr>
            <a:spLocks noGrp="1"/>
          </p:cNvSpPr>
          <p:nvPr>
            <p:ph type="ftr" sz="quarter" idx="11"/>
          </p:nvPr>
        </p:nvSpPr>
        <p:spPr/>
        <p:txBody>
          <a:bodyPr/>
          <a:lstStyle/>
          <a:p>
            <a:r>
              <a:rPr lang="en-US"/>
              <a:t>0th REVIEW           </a:t>
            </a:r>
          </a:p>
        </p:txBody>
      </p:sp>
      <p:sp>
        <p:nvSpPr>
          <p:cNvPr id="7" name="Slide Number Placeholder 6">
            <a:extLst>
              <a:ext uri="{FF2B5EF4-FFF2-40B4-BE49-F238E27FC236}">
                <a16:creationId xmlns:a16="http://schemas.microsoft.com/office/drawing/2014/main" id="{3D7C9369-3918-E39E-9B60-A57179D0499E}"/>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33004632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A9F7F1-0136-E40C-5B0F-C1D42F6EFBBE}"/>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AA08B89F-EA4C-AA4F-0EB2-C715E5B0D675}"/>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8CC2AEC3-3D5C-B4D8-ADAC-C6249EB46A19}"/>
              </a:ext>
            </a:extLst>
          </p:cNvPr>
          <p:cNvSpPr>
            <a:spLocks noGrp="1"/>
          </p:cNvSpPr>
          <p:nvPr>
            <p:ph type="dt" sz="half" idx="10"/>
          </p:nvPr>
        </p:nvSpPr>
        <p:spPr/>
        <p:txBody>
          <a:bodyPr/>
          <a:lstStyle/>
          <a:p>
            <a:fld id="{68FA3A21-9775-4B2C-9B39-32116406212C}" type="datetime1">
              <a:rPr lang="en-IN" smtClean="0"/>
              <a:t>02-10-2026</a:t>
            </a:fld>
            <a:endParaRPr lang="en-US"/>
          </a:p>
        </p:txBody>
      </p:sp>
      <p:sp>
        <p:nvSpPr>
          <p:cNvPr id="5" name="Footer Placeholder 4">
            <a:extLst>
              <a:ext uri="{FF2B5EF4-FFF2-40B4-BE49-F238E27FC236}">
                <a16:creationId xmlns:a16="http://schemas.microsoft.com/office/drawing/2014/main" id="{8B19FED2-229B-3728-C7BA-7E8D51577AE3}"/>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9D8B8F22-95FA-4A5E-31CC-C3851B52EF73}"/>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8426131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C6F1B25-2FA5-C4F6-09E8-D6F7A8DF83DC}"/>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F61113B0-02D5-BBE3-31A5-47396162981A}"/>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6B9CAE10-6B7D-C48F-F3FF-419AD4413A07}"/>
              </a:ext>
            </a:extLst>
          </p:cNvPr>
          <p:cNvSpPr>
            <a:spLocks noGrp="1"/>
          </p:cNvSpPr>
          <p:nvPr>
            <p:ph type="dt" sz="half" idx="10"/>
          </p:nvPr>
        </p:nvSpPr>
        <p:spPr/>
        <p:txBody>
          <a:bodyPr/>
          <a:lstStyle/>
          <a:p>
            <a:fld id="{D43ABDC8-9AAF-4B62-9540-4EA826AA678B}" type="datetime1">
              <a:rPr lang="en-IN" smtClean="0"/>
              <a:t>02-10-2026</a:t>
            </a:fld>
            <a:endParaRPr lang="en-US"/>
          </a:p>
        </p:txBody>
      </p:sp>
      <p:sp>
        <p:nvSpPr>
          <p:cNvPr id="5" name="Footer Placeholder 4">
            <a:extLst>
              <a:ext uri="{FF2B5EF4-FFF2-40B4-BE49-F238E27FC236}">
                <a16:creationId xmlns:a16="http://schemas.microsoft.com/office/drawing/2014/main" id="{2652D582-0634-2511-6F7E-7229EC0722E5}"/>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CEBAE7E1-0525-6C8B-2077-B55EFBEA69D4}"/>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5662507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F2A4A3-2E21-E418-73DE-E22247EE4174}"/>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93C87DE1-CAF2-229C-5776-9562B79560F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00154DD8-14C4-ACB8-D444-27F005A4C5CB}"/>
              </a:ext>
            </a:extLst>
          </p:cNvPr>
          <p:cNvSpPr>
            <a:spLocks noGrp="1"/>
          </p:cNvSpPr>
          <p:nvPr>
            <p:ph type="dt" sz="half" idx="10"/>
          </p:nvPr>
        </p:nvSpPr>
        <p:spPr/>
        <p:txBody>
          <a:bodyPr/>
          <a:lstStyle/>
          <a:p>
            <a:fld id="{5F3821C3-0F1A-498D-9F2E-D10FACA35B86}" type="datetime1">
              <a:rPr lang="en-IN" smtClean="0"/>
              <a:t>02-10-2026</a:t>
            </a:fld>
            <a:endParaRPr lang="en-US"/>
          </a:p>
        </p:txBody>
      </p:sp>
      <p:sp>
        <p:nvSpPr>
          <p:cNvPr id="5" name="Footer Placeholder 4">
            <a:extLst>
              <a:ext uri="{FF2B5EF4-FFF2-40B4-BE49-F238E27FC236}">
                <a16:creationId xmlns:a16="http://schemas.microsoft.com/office/drawing/2014/main" id="{886BF891-4BCD-EC21-1259-8661D36C8A57}"/>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A93951AF-D1A2-07A4-0B2A-7E9D6B416DE0}"/>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121685244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8CBFB9-B574-3DEB-F162-FE89B3802B30}"/>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8094B0E9-24AC-9760-0CBD-E5D0888E3FAA}"/>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95C41205-CA2E-9649-1960-8F17E0E6D292}"/>
              </a:ext>
            </a:extLst>
          </p:cNvPr>
          <p:cNvSpPr>
            <a:spLocks noGrp="1"/>
          </p:cNvSpPr>
          <p:nvPr>
            <p:ph type="dt" sz="half" idx="10"/>
          </p:nvPr>
        </p:nvSpPr>
        <p:spPr/>
        <p:txBody>
          <a:bodyPr/>
          <a:lstStyle/>
          <a:p>
            <a:fld id="{B119A7DA-FCDD-43FA-8A0C-6A5B2B391695}" type="datetime1">
              <a:rPr lang="en-IN" smtClean="0"/>
              <a:t>02-10-2026</a:t>
            </a:fld>
            <a:endParaRPr lang="en-US"/>
          </a:p>
        </p:txBody>
      </p:sp>
      <p:sp>
        <p:nvSpPr>
          <p:cNvPr id="5" name="Footer Placeholder 4">
            <a:extLst>
              <a:ext uri="{FF2B5EF4-FFF2-40B4-BE49-F238E27FC236}">
                <a16:creationId xmlns:a16="http://schemas.microsoft.com/office/drawing/2014/main" id="{BC702BAD-D0DE-F254-BBD1-2AFE276BD322}"/>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C7787769-B833-24E6-E30B-DCE74558AC9F}"/>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229719273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D24CF5-AE66-5FEF-8EEC-A630C8B2901A}"/>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10528CE2-68D8-267B-C297-6117F0736AB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7525FFB0-0F78-AEB8-5AFB-EC779B961448}"/>
              </a:ext>
            </a:extLst>
          </p:cNvPr>
          <p:cNvSpPr>
            <a:spLocks noGrp="1"/>
          </p:cNvSpPr>
          <p:nvPr>
            <p:ph type="dt" sz="half" idx="10"/>
          </p:nvPr>
        </p:nvSpPr>
        <p:spPr/>
        <p:txBody>
          <a:bodyPr/>
          <a:lstStyle/>
          <a:p>
            <a:fld id="{C138D4BE-274D-4073-90F9-6DE45B427D7A}" type="datetime1">
              <a:rPr lang="en-IN" smtClean="0"/>
              <a:t>02-10-2026</a:t>
            </a:fld>
            <a:endParaRPr lang="en-US"/>
          </a:p>
        </p:txBody>
      </p:sp>
      <p:sp>
        <p:nvSpPr>
          <p:cNvPr id="5" name="Footer Placeholder 4">
            <a:extLst>
              <a:ext uri="{FF2B5EF4-FFF2-40B4-BE49-F238E27FC236}">
                <a16:creationId xmlns:a16="http://schemas.microsoft.com/office/drawing/2014/main" id="{A4F3BE8E-E2EB-A8B6-21DD-9AB839A58AC4}"/>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714BE51E-49C9-6B3A-1C46-49212B576123}"/>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404083761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53AF32-49A3-7BB1-C7E7-6C5D90D17A8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9C51BE1-060E-F420-83BA-C8AE9151CFB7}"/>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3B5265B4-44BE-C9BD-56AD-24359969A5F6}"/>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76262ECC-3BDB-BEA4-4B7F-1545B0DC3A73}"/>
              </a:ext>
            </a:extLst>
          </p:cNvPr>
          <p:cNvSpPr>
            <a:spLocks noGrp="1"/>
          </p:cNvSpPr>
          <p:nvPr>
            <p:ph type="dt" sz="half" idx="10"/>
          </p:nvPr>
        </p:nvSpPr>
        <p:spPr/>
        <p:txBody>
          <a:bodyPr/>
          <a:lstStyle/>
          <a:p>
            <a:fld id="{C4DD2526-BF89-47C7-96E6-5B804E43EF11}" type="datetime1">
              <a:rPr lang="en-IN" smtClean="0"/>
              <a:t>02-10-2026</a:t>
            </a:fld>
            <a:endParaRPr lang="en-US"/>
          </a:p>
        </p:txBody>
      </p:sp>
      <p:sp>
        <p:nvSpPr>
          <p:cNvPr id="6" name="Footer Placeholder 5">
            <a:extLst>
              <a:ext uri="{FF2B5EF4-FFF2-40B4-BE49-F238E27FC236}">
                <a16:creationId xmlns:a16="http://schemas.microsoft.com/office/drawing/2014/main" id="{CD899311-B569-3D99-B257-5CEB03A68767}"/>
              </a:ext>
            </a:extLst>
          </p:cNvPr>
          <p:cNvSpPr>
            <a:spLocks noGrp="1"/>
          </p:cNvSpPr>
          <p:nvPr>
            <p:ph type="ftr" sz="quarter" idx="11"/>
          </p:nvPr>
        </p:nvSpPr>
        <p:spPr/>
        <p:txBody>
          <a:bodyPr/>
          <a:lstStyle/>
          <a:p>
            <a:r>
              <a:rPr lang="en-US"/>
              <a:t>0th REVIEW           </a:t>
            </a:r>
          </a:p>
        </p:txBody>
      </p:sp>
      <p:sp>
        <p:nvSpPr>
          <p:cNvPr id="7" name="Slide Number Placeholder 6">
            <a:extLst>
              <a:ext uri="{FF2B5EF4-FFF2-40B4-BE49-F238E27FC236}">
                <a16:creationId xmlns:a16="http://schemas.microsoft.com/office/drawing/2014/main" id="{2AE828AD-34AD-9A23-4FFC-4C32387C94EB}"/>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110146613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E56895-A3B7-F0FB-3CBE-59E564F229E8}"/>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129C285-ECC0-3375-66EF-B240D726BE8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12DB153A-9265-EAEC-A55D-2519057330C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D4E62BD6-069B-567C-13A2-AD51A312FB5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660CFDC1-AF24-C301-0A26-DA099D8FF3D8}"/>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A22CB484-D858-5027-D2CF-125E103D2F43}"/>
              </a:ext>
            </a:extLst>
          </p:cNvPr>
          <p:cNvSpPr>
            <a:spLocks noGrp="1"/>
          </p:cNvSpPr>
          <p:nvPr>
            <p:ph type="dt" sz="half" idx="10"/>
          </p:nvPr>
        </p:nvSpPr>
        <p:spPr/>
        <p:txBody>
          <a:bodyPr/>
          <a:lstStyle/>
          <a:p>
            <a:fld id="{84827929-B24E-4CA0-A508-395AF785C673}" type="datetime1">
              <a:rPr lang="en-IN" smtClean="0"/>
              <a:t>02-10-2026</a:t>
            </a:fld>
            <a:endParaRPr lang="en-US"/>
          </a:p>
        </p:txBody>
      </p:sp>
      <p:sp>
        <p:nvSpPr>
          <p:cNvPr id="8" name="Footer Placeholder 7">
            <a:extLst>
              <a:ext uri="{FF2B5EF4-FFF2-40B4-BE49-F238E27FC236}">
                <a16:creationId xmlns:a16="http://schemas.microsoft.com/office/drawing/2014/main" id="{68CD1DFD-AA21-1102-AD58-F0AB4361723D}"/>
              </a:ext>
            </a:extLst>
          </p:cNvPr>
          <p:cNvSpPr>
            <a:spLocks noGrp="1"/>
          </p:cNvSpPr>
          <p:nvPr>
            <p:ph type="ftr" sz="quarter" idx="11"/>
          </p:nvPr>
        </p:nvSpPr>
        <p:spPr/>
        <p:txBody>
          <a:bodyPr/>
          <a:lstStyle/>
          <a:p>
            <a:r>
              <a:rPr lang="en-US"/>
              <a:t>0th REVIEW           </a:t>
            </a:r>
          </a:p>
        </p:txBody>
      </p:sp>
      <p:sp>
        <p:nvSpPr>
          <p:cNvPr id="9" name="Slide Number Placeholder 8">
            <a:extLst>
              <a:ext uri="{FF2B5EF4-FFF2-40B4-BE49-F238E27FC236}">
                <a16:creationId xmlns:a16="http://schemas.microsoft.com/office/drawing/2014/main" id="{6058466D-C960-00E9-B91E-E20525158DCC}"/>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4951666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theme" Target="../theme/theme2.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gray">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C5EEF4A-08C3-1725-4505-63B90332E45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590D38A5-B84E-8DCB-3CEA-900D45C8584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16F078D-01B0-9071-5546-6BFF4A071C6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FA717A7-838C-4809-BC62-F129B310B950}" type="datetime1">
              <a:rPr lang="en-IN" smtClean="0"/>
              <a:t>02-10-2026</a:t>
            </a:fld>
            <a:endParaRPr lang="en-US"/>
          </a:p>
        </p:txBody>
      </p:sp>
      <p:sp>
        <p:nvSpPr>
          <p:cNvPr id="5" name="Footer Placeholder 4">
            <a:extLst>
              <a:ext uri="{FF2B5EF4-FFF2-40B4-BE49-F238E27FC236}">
                <a16:creationId xmlns:a16="http://schemas.microsoft.com/office/drawing/2014/main" id="{3E063510-A0D8-83AF-2345-E0A8B79D5D6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0th REVIEW           </a:t>
            </a:r>
          </a:p>
        </p:txBody>
      </p:sp>
      <p:sp>
        <p:nvSpPr>
          <p:cNvPr id="6" name="Slide Number Placeholder 5">
            <a:extLst>
              <a:ext uri="{FF2B5EF4-FFF2-40B4-BE49-F238E27FC236}">
                <a16:creationId xmlns:a16="http://schemas.microsoft.com/office/drawing/2014/main" id="{73B51A12-6174-66E3-0415-DA607E50CD4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961B71F-4B40-8942-BB88-E0F5C0B46E10}" type="slidenum">
              <a:rPr lang="en-US" smtClean="0"/>
              <a:t>‹#›</a:t>
            </a:fld>
            <a:endParaRPr lang="en-US"/>
          </a:p>
        </p:txBody>
      </p:sp>
    </p:spTree>
    <p:extLst>
      <p:ext uri="{BB962C8B-B14F-4D97-AF65-F5344CB8AC3E}">
        <p14:creationId xmlns:p14="http://schemas.microsoft.com/office/powerpoint/2010/main" val="24808278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8B26EC2-0EF8-2F89-DF64-2685FD6393C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1E29FC3-B99D-0056-3798-159705D1134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A79F1E1-99D3-E959-A91B-BD6DF2599B4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2DDB2A2-8993-4CD1-B936-8FCCA45C385B}" type="datetime1">
              <a:rPr lang="en-IN" smtClean="0"/>
              <a:t>02-10-2026</a:t>
            </a:fld>
            <a:endParaRPr lang="en-US"/>
          </a:p>
        </p:txBody>
      </p:sp>
      <p:sp>
        <p:nvSpPr>
          <p:cNvPr id="5" name="Footer Placeholder 4">
            <a:extLst>
              <a:ext uri="{FF2B5EF4-FFF2-40B4-BE49-F238E27FC236}">
                <a16:creationId xmlns:a16="http://schemas.microsoft.com/office/drawing/2014/main" id="{44EC7260-A9B7-9847-6D81-8C797C4D5AA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0th REVIEW           </a:t>
            </a:r>
          </a:p>
        </p:txBody>
      </p:sp>
      <p:sp>
        <p:nvSpPr>
          <p:cNvPr id="6" name="Slide Number Placeholder 5">
            <a:extLst>
              <a:ext uri="{FF2B5EF4-FFF2-40B4-BE49-F238E27FC236}">
                <a16:creationId xmlns:a16="http://schemas.microsoft.com/office/drawing/2014/main" id="{AD527894-99B0-6303-77B2-C1C210EE22F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6396F81-1074-6B40-A92F-A06CCD3B4178}" type="slidenum">
              <a:rPr lang="en-US" smtClean="0"/>
              <a:t>‹#›</a:t>
            </a:fld>
            <a:endParaRPr lang="en-US"/>
          </a:p>
        </p:txBody>
      </p:sp>
    </p:spTree>
    <p:extLst>
      <p:ext uri="{BB962C8B-B14F-4D97-AF65-F5344CB8AC3E}">
        <p14:creationId xmlns:p14="http://schemas.microsoft.com/office/powerpoint/2010/main" val="221848436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 Id="rId5" Type="http://schemas.openxmlformats.org/officeDocument/2006/relationships/image" Target="../media/image13.png"/><Relationship Id="rId4" Type="http://schemas.openxmlformats.org/officeDocument/2006/relationships/image" Target="../media/image12.png"/></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500A09-BF95-A121-71A4-33FFE91ACA86}"/>
              </a:ext>
            </a:extLst>
          </p:cNvPr>
          <p:cNvSpPr>
            <a:spLocks noGrp="1"/>
          </p:cNvSpPr>
          <p:nvPr>
            <p:ph type="title"/>
          </p:nvPr>
        </p:nvSpPr>
        <p:spPr>
          <a:xfrm>
            <a:off x="961417" y="1004674"/>
            <a:ext cx="10392383" cy="594360"/>
          </a:xfrm>
        </p:spPr>
        <p:txBody>
          <a:bodyPr>
            <a:noAutofit/>
          </a:bodyPr>
          <a:lstStyle/>
          <a:p>
            <a:pPr algn="ctr">
              <a:lnSpc>
                <a:spcPct val="100000"/>
              </a:lnSpc>
            </a:pPr>
            <a:r>
              <a:rPr lang="en-IN" sz="2400" b="1" dirty="0">
                <a:solidFill>
                  <a:srgbClr val="0070C0"/>
                </a:solidFill>
                <a:effectLst/>
                <a:latin typeface="Times New Roman" panose="02020603050405020304" pitchFamily="18" charset="0"/>
                <a:ea typeface="Times New Roman" panose="02020603050405020304" pitchFamily="18" charset="0"/>
              </a:rPr>
              <a:t>Secure and Scalable Healthcare Appointment Scheduling    Through Distributed Backend Development</a:t>
            </a:r>
            <a:br>
              <a:rPr lang="en-IN" sz="1800" dirty="0">
                <a:effectLst/>
                <a:latin typeface="Times New Roman" panose="02020603050405020304" pitchFamily="18" charset="0"/>
                <a:ea typeface="Times New Roman" panose="02020603050405020304" pitchFamily="18" charset="0"/>
              </a:rPr>
            </a:br>
            <a:endParaRPr lang="en-US" sz="2400" b="1" dirty="0">
              <a:solidFill>
                <a:srgbClr val="011893"/>
              </a:solidFill>
              <a:latin typeface="+mn-lt"/>
              <a:cs typeface="Arial" panose="020B0604020202020204" pitchFamily="34" charset="0"/>
            </a:endParaRPr>
          </a:p>
        </p:txBody>
      </p:sp>
      <p:sp>
        <p:nvSpPr>
          <p:cNvPr id="6" name="Date Placeholder 5">
            <a:extLst>
              <a:ext uri="{FF2B5EF4-FFF2-40B4-BE49-F238E27FC236}">
                <a16:creationId xmlns:a16="http://schemas.microsoft.com/office/drawing/2014/main" id="{024CF11E-4EBB-004C-8FD7-152B8D16D8B6}"/>
              </a:ext>
            </a:extLst>
          </p:cNvPr>
          <p:cNvSpPr>
            <a:spLocks noGrp="1"/>
          </p:cNvSpPr>
          <p:nvPr>
            <p:ph type="dt" sz="half" idx="10"/>
          </p:nvPr>
        </p:nvSpPr>
        <p:spPr/>
        <p:txBody>
          <a:bodyPr/>
          <a:lstStyle/>
          <a:p>
            <a:endParaRPr lang="en-US" dirty="0"/>
          </a:p>
        </p:txBody>
      </p:sp>
      <p:sp>
        <p:nvSpPr>
          <p:cNvPr id="9" name="Content Placeholder 3">
            <a:extLst>
              <a:ext uri="{FF2B5EF4-FFF2-40B4-BE49-F238E27FC236}">
                <a16:creationId xmlns:a16="http://schemas.microsoft.com/office/drawing/2014/main" id="{24F28400-FDB5-158C-D317-153E1B1CD072}"/>
              </a:ext>
            </a:extLst>
          </p:cNvPr>
          <p:cNvSpPr txBox="1">
            <a:spLocks/>
          </p:cNvSpPr>
          <p:nvPr/>
        </p:nvSpPr>
        <p:spPr>
          <a:xfrm>
            <a:off x="961417" y="5032000"/>
            <a:ext cx="10506683" cy="1380753"/>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r>
              <a:rPr lang="en-US" sz="1800" b="1" dirty="0">
                <a:solidFill>
                  <a:srgbClr val="C00000"/>
                </a:solidFill>
              </a:rPr>
              <a:t>KONERU LAKSHMAIAH EDUCATION FOUNDATION</a:t>
            </a:r>
          </a:p>
          <a:p>
            <a:pPr marL="0" indent="0">
              <a:buFont typeface="Arial" panose="020B0604020202020204" pitchFamily="34" charset="0"/>
              <a:buNone/>
            </a:pPr>
            <a:endParaRPr lang="en-US" sz="1800" b="1" dirty="0">
              <a:solidFill>
                <a:srgbClr val="0070C0"/>
              </a:solidFill>
            </a:endParaRPr>
          </a:p>
        </p:txBody>
      </p:sp>
      <p:sp>
        <p:nvSpPr>
          <p:cNvPr id="10" name="Content Placeholder 3">
            <a:extLst>
              <a:ext uri="{FF2B5EF4-FFF2-40B4-BE49-F238E27FC236}">
                <a16:creationId xmlns:a16="http://schemas.microsoft.com/office/drawing/2014/main" id="{968465D1-CCC3-285A-3E29-8B23DC764FF6}"/>
              </a:ext>
            </a:extLst>
          </p:cNvPr>
          <p:cNvSpPr txBox="1">
            <a:spLocks/>
          </p:cNvSpPr>
          <p:nvPr/>
        </p:nvSpPr>
        <p:spPr>
          <a:xfrm>
            <a:off x="952500" y="3143780"/>
            <a:ext cx="10515600" cy="1806292"/>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t>Under the Guidance </a:t>
            </a:r>
            <a:br/>
            <a:r>
              <a:t>of </a:t>
            </a:r>
            <a:br/>
            <a:r>
              <a:t>Dr.Y Subbarayudu</a:t>
            </a:r>
            <a:br/>
            <a:r>
              <a:t>Assistant Professor</a:t>
            </a:r>
            <a:br/>
            <a:r>
              <a:t>Department of Computer Science and Engineering </a:t>
            </a:r>
            <a:br/>
            <a:endParaRPr/>
          </a:p>
        </p:txBody>
      </p:sp>
      <p:sp>
        <p:nvSpPr>
          <p:cNvPr id="4" name="Footer Placeholder 3">
            <a:extLst>
              <a:ext uri="{FF2B5EF4-FFF2-40B4-BE49-F238E27FC236}">
                <a16:creationId xmlns:a16="http://schemas.microsoft.com/office/drawing/2014/main" id="{CD9864F2-F4A5-DC53-C4B3-F9C0A49E4A32}"/>
              </a:ext>
            </a:extLst>
          </p:cNvPr>
          <p:cNvSpPr>
            <a:spLocks noGrp="1"/>
          </p:cNvSpPr>
          <p:nvPr>
            <p:ph type="ftr" sz="quarter" idx="11"/>
          </p:nvPr>
        </p:nvSpPr>
        <p:spPr/>
        <p:txBody>
          <a:bodyPr/>
          <a:lstStyle/>
          <a:p>
            <a:r>
              <a:rPr dirty="0"/>
              <a:t> REVIEW           </a:t>
            </a:r>
          </a:p>
        </p:txBody>
      </p:sp>
      <p:sp>
        <p:nvSpPr>
          <p:cNvPr id="5" name="Slide Number Placeholder 4">
            <a:extLst>
              <a:ext uri="{FF2B5EF4-FFF2-40B4-BE49-F238E27FC236}">
                <a16:creationId xmlns:a16="http://schemas.microsoft.com/office/drawing/2014/main" id="{913C41FE-7D1F-E7DF-F0EB-DE18D39555E3}"/>
              </a:ext>
            </a:extLst>
          </p:cNvPr>
          <p:cNvSpPr>
            <a:spLocks noGrp="1"/>
          </p:cNvSpPr>
          <p:nvPr>
            <p:ph type="sldNum" sz="quarter" idx="12"/>
          </p:nvPr>
        </p:nvSpPr>
        <p:spPr/>
        <p:txBody>
          <a:bodyPr/>
          <a:lstStyle/>
          <a:p>
            <a:fld id="{B961B71F-4B40-8942-BB88-E0F5C0B46E10}" type="slidenum">
              <a:rPr lang="en-US" smtClean="0"/>
              <a:t>1</a:t>
            </a:fld>
            <a:endParaRPr lang="en-US"/>
          </a:p>
        </p:txBody>
      </p:sp>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56040" y="4860024"/>
            <a:ext cx="2618924" cy="1243012"/>
          </a:xfrm>
          <a:prstGeom prst="rect">
            <a:avLst/>
          </a:prstGeom>
        </p:spPr>
      </p:pic>
      <p:graphicFrame>
        <p:nvGraphicFramePr>
          <p:cNvPr id="12" name="Table 11">
            <a:extLst>
              <a:ext uri="{FF2B5EF4-FFF2-40B4-BE49-F238E27FC236}">
                <a16:creationId xmlns:a16="http://schemas.microsoft.com/office/drawing/2014/main" id="{F5C1A452-4633-BB68-A150-FAF552C36CB9}"/>
              </a:ext>
            </a:extLst>
          </p:cNvPr>
          <p:cNvGraphicFramePr>
            <a:graphicFrameLocks noGrp="1"/>
          </p:cNvGraphicFramePr>
          <p:nvPr>
            <p:extLst>
              <p:ext uri="{D42A27DB-BD31-4B8C-83A1-F6EECF244321}">
                <p14:modId xmlns:p14="http://schemas.microsoft.com/office/powerpoint/2010/main" val="2506258649"/>
              </p:ext>
            </p:extLst>
          </p:nvPr>
        </p:nvGraphicFramePr>
        <p:xfrm>
          <a:off x="2032000" y="1680962"/>
          <a:ext cx="8128000" cy="1112520"/>
        </p:xfrm>
        <a:graphic>
          <a:graphicData uri="http://schemas.openxmlformats.org/drawingml/2006/table">
            <a:tbl>
              <a:tblPr firstRow="1" bandRow="1">
                <a:tableStyleId>{5940675A-B579-460E-94D1-54222C63F5DA}</a:tableStyleId>
              </a:tblPr>
              <a:tblGrid>
                <a:gridCol w="4064000">
                  <a:extLst>
                    <a:ext uri="{9D8B030D-6E8A-4147-A177-3AD203B41FA5}">
                      <a16:colId xmlns:a16="http://schemas.microsoft.com/office/drawing/2014/main" val="2649491121"/>
                    </a:ext>
                  </a:extLst>
                </a:gridCol>
                <a:gridCol w="4064000">
                  <a:extLst>
                    <a:ext uri="{9D8B030D-6E8A-4147-A177-3AD203B41FA5}">
                      <a16:colId xmlns:a16="http://schemas.microsoft.com/office/drawing/2014/main" val="1478369533"/>
                    </a:ext>
                  </a:extLst>
                </a:gridCol>
              </a:tblGrid>
              <a:tr h="370840">
                <a:tc>
                  <a:txBody>
                    <a:bodyPr/>
                    <a:lstStyle/>
                    <a:p>
                      <a:r>
                        <a:rPr lang="en-US" dirty="0"/>
                        <a:t>MONISHA  RAGHINI CHELLE </a:t>
                      </a:r>
                    </a:p>
                  </a:txBody>
                  <a:tcPr/>
                </a:tc>
                <a:tc>
                  <a:txBody>
                    <a:bodyPr/>
                    <a:lstStyle/>
                    <a:p>
                      <a:r>
                        <a:rPr lang="en-US" dirty="0"/>
                        <a:t>2520030537</a:t>
                      </a:r>
                    </a:p>
                  </a:txBody>
                  <a:tcPr/>
                </a:tc>
                <a:extLst>
                  <a:ext uri="{0D108BD9-81ED-4DB2-BD59-A6C34878D82A}">
                    <a16:rowId xmlns:a16="http://schemas.microsoft.com/office/drawing/2014/main" val="253518174"/>
                  </a:ext>
                </a:extLst>
              </a:tr>
              <a:tr h="370840">
                <a:tc>
                  <a:txBody>
                    <a:bodyPr/>
                    <a:lstStyle/>
                    <a:p>
                      <a:r>
                        <a:rPr lang="en-US" dirty="0"/>
                        <a:t>BHUPATHIRAJU DEVI CHARITHA</a:t>
                      </a:r>
                    </a:p>
                  </a:txBody>
                  <a:tcPr/>
                </a:tc>
                <a:tc>
                  <a:txBody>
                    <a:bodyPr/>
                    <a:lstStyle/>
                    <a:p>
                      <a:r>
                        <a:rPr lang="en-US" dirty="0"/>
                        <a:t>2520030462</a:t>
                      </a:r>
                    </a:p>
                  </a:txBody>
                  <a:tcPr/>
                </a:tc>
                <a:extLst>
                  <a:ext uri="{0D108BD9-81ED-4DB2-BD59-A6C34878D82A}">
                    <a16:rowId xmlns:a16="http://schemas.microsoft.com/office/drawing/2014/main" val="2413438055"/>
                  </a:ext>
                </a:extLst>
              </a:tr>
              <a:tr h="370840">
                <a:tc>
                  <a:txBody>
                    <a:bodyPr/>
                    <a:lstStyle/>
                    <a:p>
                      <a:r>
                        <a:rPr lang="en-US" dirty="0"/>
                        <a:t>PRASHANTHI DABBUGUNTA</a:t>
                      </a:r>
                    </a:p>
                  </a:txBody>
                  <a:tcPr/>
                </a:tc>
                <a:tc>
                  <a:txBody>
                    <a:bodyPr/>
                    <a:lstStyle/>
                    <a:p>
                      <a:r>
                        <a:rPr lang="en-US" dirty="0"/>
                        <a:t>2520030301</a:t>
                      </a:r>
                    </a:p>
                  </a:txBody>
                  <a:tcPr/>
                </a:tc>
                <a:extLst>
                  <a:ext uri="{0D108BD9-81ED-4DB2-BD59-A6C34878D82A}">
                    <a16:rowId xmlns:a16="http://schemas.microsoft.com/office/drawing/2014/main" val="2584183484"/>
                  </a:ext>
                </a:extLst>
              </a:tr>
            </a:tbl>
          </a:graphicData>
        </a:graphic>
      </p:graphicFrame>
      <p:sp>
        <p:nvSpPr>
          <p:cNvPr id="13" name="Rectangle 12"/>
          <p:cNvSpPr/>
          <p:nvPr/>
        </p:nvSpPr>
        <p:spPr>
          <a:xfrm>
            <a:off x="457200" y="137160"/>
            <a:ext cx="11247120" cy="5943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353569" y="164592"/>
            <a:ext cx="1271502" cy="461665"/>
          </a:xfrm>
          <a:prstGeom prst="rect">
            <a:avLst/>
          </a:prstGeom>
          <a:noFill/>
        </p:spPr>
        <p:txBody>
          <a:bodyPr wrap="none">
            <a:spAutoFit/>
          </a:bodyPr>
          <a:lstStyle/>
          <a:p>
            <a:pPr algn="ctr">
              <a:defRPr sz="2400" b="1">
                <a:solidFill>
                  <a:srgbClr val="0070C0"/>
                </a:solidFill>
              </a:defRPr>
            </a:pPr>
            <a:r>
              <a:rPr dirty="0"/>
              <a:t> REVIEW</a:t>
            </a:r>
          </a:p>
        </p:txBody>
      </p:sp>
    </p:spTree>
    <p:extLst>
      <p:ext uri="{BB962C8B-B14F-4D97-AF65-F5344CB8AC3E}">
        <p14:creationId xmlns:p14="http://schemas.microsoft.com/office/powerpoint/2010/main" val="33625541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0F0159-92E9-5749-2215-8FA86E40BAF0}"/>
              </a:ext>
            </a:extLst>
          </p:cNvPr>
          <p:cNvSpPr>
            <a:spLocks noGrp="1"/>
          </p:cNvSpPr>
          <p:nvPr>
            <p:ph type="title"/>
          </p:nvPr>
        </p:nvSpPr>
        <p:spPr>
          <a:xfrm>
            <a:off x="1424484" y="374681"/>
            <a:ext cx="9343030" cy="726696"/>
          </a:xfrm>
        </p:spPr>
        <p:txBody>
          <a:bodyPr>
            <a:normAutofit/>
          </a:bodyPr>
          <a:lstStyle/>
          <a:p>
            <a:pPr algn="ctr"/>
            <a:r>
              <a:rPr lang="en-US" sz="3200" b="1" dirty="0">
                <a:solidFill>
                  <a:srgbClr val="0070C0"/>
                </a:solidFill>
                <a:latin typeface="+mn-lt"/>
              </a:rPr>
              <a:t>GROUP NUMBER:8</a:t>
            </a:r>
            <a:endParaRPr lang="en-IN" sz="3200" b="1" dirty="0">
              <a:solidFill>
                <a:srgbClr val="0070C0"/>
              </a:solidFill>
              <a:latin typeface="+mn-lt"/>
            </a:endParaRPr>
          </a:p>
        </p:txBody>
      </p:sp>
      <p:sp>
        <p:nvSpPr>
          <p:cNvPr id="5" name="Footer Placeholder 4">
            <a:extLst>
              <a:ext uri="{FF2B5EF4-FFF2-40B4-BE49-F238E27FC236}">
                <a16:creationId xmlns:a16="http://schemas.microsoft.com/office/drawing/2014/main" id="{8C1BEE83-A330-74AD-884C-C19F63D46C53}"/>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CE68CDC1-D8FB-8D4B-F57A-06B2C414C5B5}"/>
              </a:ext>
            </a:extLst>
          </p:cNvPr>
          <p:cNvSpPr>
            <a:spLocks noGrp="1"/>
          </p:cNvSpPr>
          <p:nvPr>
            <p:ph type="sldNum" sz="quarter" idx="12"/>
          </p:nvPr>
        </p:nvSpPr>
        <p:spPr/>
        <p:txBody>
          <a:bodyPr/>
          <a:lstStyle/>
          <a:p>
            <a:fld id="{B961B71F-4B40-8942-BB88-E0F5C0B46E10}" type="slidenum">
              <a:rPr lang="en-US" smtClean="0"/>
              <a:t>2</a:t>
            </a:fld>
            <a:endParaRPr lang="en-US"/>
          </a:p>
        </p:txBody>
      </p:sp>
      <p:graphicFrame>
        <p:nvGraphicFramePr>
          <p:cNvPr id="7" name="Table 10">
            <a:extLst>
              <a:ext uri="{FF2B5EF4-FFF2-40B4-BE49-F238E27FC236}">
                <a16:creationId xmlns:a16="http://schemas.microsoft.com/office/drawing/2014/main" id="{BD94FEB8-52D1-2D12-5891-6583D8FD44BE}"/>
              </a:ext>
            </a:extLst>
          </p:cNvPr>
          <p:cNvGraphicFramePr>
            <a:graphicFrameLocks noGrp="1"/>
          </p:cNvGraphicFramePr>
          <p:nvPr>
            <p:ph idx="1"/>
            <p:extLst>
              <p:ext uri="{D42A27DB-BD31-4B8C-83A1-F6EECF244321}">
                <p14:modId xmlns:p14="http://schemas.microsoft.com/office/powerpoint/2010/main" val="783399991"/>
              </p:ext>
            </p:extLst>
          </p:nvPr>
        </p:nvGraphicFramePr>
        <p:xfrm>
          <a:off x="838199" y="1416193"/>
          <a:ext cx="10515600" cy="2338684"/>
        </p:xfrm>
        <a:graphic>
          <a:graphicData uri="http://schemas.openxmlformats.org/drawingml/2006/table">
            <a:tbl>
              <a:tblPr firstRow="1" bandRow="1">
                <a:tableStyleId>{5A111915-BE36-4E01-A7E5-04B1672EAD32}</a:tableStyleId>
              </a:tblPr>
              <a:tblGrid>
                <a:gridCol w="5257800">
                  <a:extLst>
                    <a:ext uri="{9D8B030D-6E8A-4147-A177-3AD203B41FA5}">
                      <a16:colId xmlns:a16="http://schemas.microsoft.com/office/drawing/2014/main" val="446563831"/>
                    </a:ext>
                  </a:extLst>
                </a:gridCol>
                <a:gridCol w="5257800">
                  <a:extLst>
                    <a:ext uri="{9D8B030D-6E8A-4147-A177-3AD203B41FA5}">
                      <a16:colId xmlns:a16="http://schemas.microsoft.com/office/drawing/2014/main" val="4175382372"/>
                    </a:ext>
                  </a:extLst>
                </a:gridCol>
              </a:tblGrid>
              <a:tr h="418444">
                <a:tc>
                  <a:txBody>
                    <a:bodyPr/>
                    <a:lstStyle/>
                    <a:p>
                      <a:pPr algn="ctr"/>
                      <a:r>
                        <a:rPr lang="en-US" dirty="0"/>
                        <a:t>Name of Candidate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Role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17162894"/>
                  </a:ext>
                </a:extLst>
              </a:tr>
              <a:tr h="62984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MONISHA RAGHINI CHELLE</a:t>
                      </a:r>
                    </a:p>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Database &amp; SQL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71584153"/>
                  </a:ext>
                </a:extLst>
              </a:tr>
              <a:tr h="62984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BHUPATHIRAJU DEVI CHARITHA</a:t>
                      </a:r>
                    </a:p>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Frontend &amp; Integration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71687620"/>
                  </a:ext>
                </a:extLst>
              </a:tr>
              <a:tr h="62984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PRASHANTHI DABBUGUNTA</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defTabSz="914400" rtl="0" eaLnBrk="1" latinLnBrk="0" hangingPunct="1"/>
                      <a:r>
                        <a:rPr lang="en-US" sz="1800" kern="1200" dirty="0">
                          <a:solidFill>
                            <a:schemeClr val="tx1"/>
                          </a:solidFill>
                          <a:latin typeface="+mn-lt"/>
                          <a:ea typeface="+mn-ea"/>
                          <a:cs typeface="+mn-cs"/>
                        </a:rPr>
                        <a:t>Backend &amp; API</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49241275"/>
                  </a:ext>
                </a:extLst>
              </a:tr>
            </a:tbl>
          </a:graphicData>
        </a:graphic>
      </p:graphicFrame>
    </p:spTree>
    <p:extLst>
      <p:ext uri="{BB962C8B-B14F-4D97-AF65-F5344CB8AC3E}">
        <p14:creationId xmlns:p14="http://schemas.microsoft.com/office/powerpoint/2010/main" val="11839367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2C21A4-4335-3E69-90C0-3A67A34B24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C32EA0-1B53-65AA-CA98-61C6349CC410}"/>
              </a:ext>
            </a:extLst>
          </p:cNvPr>
          <p:cNvSpPr>
            <a:spLocks noGrp="1"/>
          </p:cNvSpPr>
          <p:nvPr>
            <p:ph type="title"/>
          </p:nvPr>
        </p:nvSpPr>
        <p:spPr/>
        <p:txBody>
          <a:bodyPr>
            <a:normAutofit/>
          </a:bodyPr>
          <a:lstStyle/>
          <a:p>
            <a:pPr algn="ctr"/>
            <a:r>
              <a:rPr lang="en-IN" sz="3200" b="1" dirty="0">
                <a:solidFill>
                  <a:srgbClr val="0070C0"/>
                </a:solidFill>
                <a:latin typeface="+mn-lt"/>
              </a:rPr>
              <a:t>ABSTRACT</a:t>
            </a:r>
          </a:p>
        </p:txBody>
      </p:sp>
      <p:sp>
        <p:nvSpPr>
          <p:cNvPr id="5" name="Footer Placeholder 4">
            <a:extLst>
              <a:ext uri="{FF2B5EF4-FFF2-40B4-BE49-F238E27FC236}">
                <a16:creationId xmlns:a16="http://schemas.microsoft.com/office/drawing/2014/main" id="{5A208674-D9B3-10B6-5D9C-41DD53040143}"/>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CFCCDEA6-9764-F9AA-B69B-6D32503B085E}"/>
              </a:ext>
            </a:extLst>
          </p:cNvPr>
          <p:cNvSpPr>
            <a:spLocks noGrp="1"/>
          </p:cNvSpPr>
          <p:nvPr>
            <p:ph type="sldNum" sz="quarter" idx="12"/>
          </p:nvPr>
        </p:nvSpPr>
        <p:spPr/>
        <p:txBody>
          <a:bodyPr/>
          <a:lstStyle/>
          <a:p>
            <a:fld id="{B961B71F-4B40-8942-BB88-E0F5C0B46E10}" type="slidenum">
              <a:rPr lang="en-US" smtClean="0"/>
              <a:t>3</a:t>
            </a:fld>
            <a:endParaRPr lang="en-US"/>
          </a:p>
        </p:txBody>
      </p:sp>
      <p:sp>
        <p:nvSpPr>
          <p:cNvPr id="4" name="Content Placeholder 3">
            <a:extLst>
              <a:ext uri="{FF2B5EF4-FFF2-40B4-BE49-F238E27FC236}">
                <a16:creationId xmlns:a16="http://schemas.microsoft.com/office/drawing/2014/main" id="{A4A63587-658B-D9DC-0DC8-293DA4D38FF8}"/>
              </a:ext>
            </a:extLst>
          </p:cNvPr>
          <p:cNvSpPr>
            <a:spLocks noGrp="1"/>
          </p:cNvSpPr>
          <p:nvPr>
            <p:ph idx="1"/>
          </p:nvPr>
        </p:nvSpPr>
        <p:spPr/>
        <p:txBody>
          <a:bodyPr/>
          <a:lstStyle/>
          <a:p>
            <a:r>
              <a:rPr lang="en-US" dirty="0"/>
              <a:t>CarePlus is a web-based healthcare appointment scheduling system designed to simplify the process of finding doctors and booking appointments. The system allows patients to register, log in, view doctors based on specialization, check availability, select appointment slots, and manage appointments. An administrator manages doctors, availability, appointments, holidays, and payments. The system uses React for the frontend, FastAPI for the backend, and MySQL for data storage.</a:t>
            </a:r>
          </a:p>
        </p:txBody>
      </p:sp>
    </p:spTree>
    <p:extLst>
      <p:ext uri="{BB962C8B-B14F-4D97-AF65-F5344CB8AC3E}">
        <p14:creationId xmlns:p14="http://schemas.microsoft.com/office/powerpoint/2010/main" val="42064218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1C98CD-164D-D85C-3C57-86DE945BC442}"/>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975BEFBF-E399-A1D2-ED5E-57C497A7912E}"/>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2865F5E2-7F9E-F67E-1C1D-E2C463D8F91F}"/>
              </a:ext>
            </a:extLst>
          </p:cNvPr>
          <p:cNvSpPr>
            <a:spLocks noGrp="1"/>
          </p:cNvSpPr>
          <p:nvPr>
            <p:ph type="sldNum" sz="quarter" idx="12"/>
          </p:nvPr>
        </p:nvSpPr>
        <p:spPr/>
        <p:txBody>
          <a:bodyPr/>
          <a:lstStyle/>
          <a:p>
            <a:fld id="{B961B71F-4B40-8942-BB88-E0F5C0B46E10}" type="slidenum">
              <a:rPr lang="en-US" smtClean="0"/>
              <a:t>4</a:t>
            </a:fld>
            <a:endParaRPr lang="en-US"/>
          </a:p>
        </p:txBody>
      </p:sp>
      <p:sp>
        <p:nvSpPr>
          <p:cNvPr id="4" name="Content Placeholder 3">
            <a:extLst>
              <a:ext uri="{FF2B5EF4-FFF2-40B4-BE49-F238E27FC236}">
                <a16:creationId xmlns:a16="http://schemas.microsoft.com/office/drawing/2014/main" id="{B50241EE-20FA-FE88-F0CE-F84CFE3ED762}"/>
              </a:ext>
            </a:extLst>
          </p:cNvPr>
          <p:cNvSpPr>
            <a:spLocks noGrp="1"/>
          </p:cNvSpPr>
          <p:nvPr>
            <p:ph idx="1"/>
          </p:nvPr>
        </p:nvSpPr>
        <p:spPr/>
        <p:txBody>
          <a:bodyPr/>
          <a:lstStyle/>
          <a:p>
            <a:pPr>
              <a:buFont typeface="Arial" panose="020B0604020202020204" pitchFamily="34" charset="0"/>
              <a:buChar char="•"/>
            </a:pPr>
            <a:r>
              <a:rPr lang="en-US" dirty="0"/>
              <a:t>Healthcare appointments can be difficult to manage manually. </a:t>
            </a:r>
          </a:p>
          <a:p>
            <a:pPr>
              <a:buFont typeface="Arial" panose="020B0604020202020204" pitchFamily="34" charset="0"/>
              <a:buChar char="•"/>
            </a:pPr>
            <a:r>
              <a:rPr lang="en-US" dirty="0"/>
              <a:t>Patients need an easy way to find suitable doctors and available time slots. </a:t>
            </a:r>
          </a:p>
          <a:p>
            <a:pPr>
              <a:buFont typeface="Arial" panose="020B0604020202020204" pitchFamily="34" charset="0"/>
              <a:buChar char="•"/>
            </a:pPr>
            <a:r>
              <a:rPr lang="en-US" dirty="0"/>
              <a:t>CarePlus provides an online platform for appointment scheduling. </a:t>
            </a:r>
          </a:p>
          <a:p>
            <a:pPr>
              <a:buFont typeface="Arial" panose="020B0604020202020204" pitchFamily="34" charset="0"/>
              <a:buChar char="•"/>
            </a:pPr>
            <a:r>
              <a:rPr lang="en-US" dirty="0"/>
              <a:t>Patients can manage their appointments and notifications. </a:t>
            </a:r>
          </a:p>
          <a:p>
            <a:pPr>
              <a:buFont typeface="Arial" panose="020B0604020202020204" pitchFamily="34" charset="0"/>
              <a:buChar char="•"/>
            </a:pPr>
            <a:r>
              <a:rPr lang="en-US" dirty="0"/>
              <a:t>Administrators can manage doctors, patients, appointments, holidays, and payments. </a:t>
            </a:r>
          </a:p>
          <a:p>
            <a:pPr>
              <a:buFont typeface="Arial" panose="020B0604020202020204" pitchFamily="34" charset="0"/>
              <a:buChar char="•"/>
            </a:pPr>
            <a:r>
              <a:rPr lang="en-US" dirty="0"/>
              <a:t>The system follows a separate frontend, backend, and database architecture. </a:t>
            </a:r>
          </a:p>
          <a:p>
            <a:endParaRPr lang="en-US" dirty="0"/>
          </a:p>
        </p:txBody>
      </p:sp>
      <p:sp>
        <p:nvSpPr>
          <p:cNvPr id="3" name="Title 1">
            <a:extLst>
              <a:ext uri="{FF2B5EF4-FFF2-40B4-BE49-F238E27FC236}">
                <a16:creationId xmlns:a16="http://schemas.microsoft.com/office/drawing/2014/main" id="{2D1B0019-17F6-6ECD-81B5-BF762F171693}"/>
              </a:ext>
            </a:extLst>
          </p:cNvPr>
          <p:cNvSpPr txBox="1">
            <a:spLocks/>
          </p:cNvSpPr>
          <p:nvPr/>
        </p:nvSpPr>
        <p:spPr>
          <a:xfrm>
            <a:off x="990600" y="5175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sz="3200" dirty="0">
                <a:solidFill>
                  <a:srgbClr val="0070C0"/>
                </a:solidFill>
                <a:latin typeface="+mn-lt"/>
              </a:rPr>
              <a:t>INTRODUCTION</a:t>
            </a:r>
          </a:p>
        </p:txBody>
      </p:sp>
    </p:spTree>
    <p:extLst>
      <p:ext uri="{BB962C8B-B14F-4D97-AF65-F5344CB8AC3E}">
        <p14:creationId xmlns:p14="http://schemas.microsoft.com/office/powerpoint/2010/main" val="21050923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A8186F-83EF-F797-3CF5-E0EB652B64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BADAA0-09CB-B341-1C09-04229CE6998C}"/>
              </a:ext>
            </a:extLst>
          </p:cNvPr>
          <p:cNvSpPr>
            <a:spLocks noGrp="1"/>
          </p:cNvSpPr>
          <p:nvPr>
            <p:ph type="title"/>
          </p:nvPr>
        </p:nvSpPr>
        <p:spPr/>
        <p:txBody>
          <a:bodyPr>
            <a:normAutofit/>
          </a:bodyPr>
          <a:lstStyle/>
          <a:p>
            <a:pPr algn="ctr"/>
            <a:r>
              <a:rPr lang="en-IN" sz="3200" b="1" dirty="0">
                <a:solidFill>
                  <a:srgbClr val="0070C0"/>
                </a:solidFill>
                <a:latin typeface="+mn-lt"/>
              </a:rPr>
              <a:t>EXISTING SYSTEM</a:t>
            </a:r>
            <a:endParaRPr lang="en-IN" sz="3200" dirty="0">
              <a:solidFill>
                <a:srgbClr val="0070C0"/>
              </a:solidFill>
              <a:latin typeface="+mn-lt"/>
            </a:endParaRPr>
          </a:p>
        </p:txBody>
      </p:sp>
      <p:sp>
        <p:nvSpPr>
          <p:cNvPr id="5" name="Footer Placeholder 4">
            <a:extLst>
              <a:ext uri="{FF2B5EF4-FFF2-40B4-BE49-F238E27FC236}">
                <a16:creationId xmlns:a16="http://schemas.microsoft.com/office/drawing/2014/main" id="{A28FD481-001E-20A8-DE67-D9A8495940B4}"/>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BD26E39B-0946-7E2E-7624-441AA6BEEDFB}"/>
              </a:ext>
            </a:extLst>
          </p:cNvPr>
          <p:cNvSpPr>
            <a:spLocks noGrp="1"/>
          </p:cNvSpPr>
          <p:nvPr>
            <p:ph type="sldNum" sz="quarter" idx="12"/>
          </p:nvPr>
        </p:nvSpPr>
        <p:spPr/>
        <p:txBody>
          <a:bodyPr/>
          <a:lstStyle/>
          <a:p>
            <a:fld id="{B961B71F-4B40-8942-BB88-E0F5C0B46E10}" type="slidenum">
              <a:rPr lang="en-US" smtClean="0"/>
              <a:t>5</a:t>
            </a:fld>
            <a:endParaRPr lang="en-US"/>
          </a:p>
        </p:txBody>
      </p:sp>
      <p:sp>
        <p:nvSpPr>
          <p:cNvPr id="4" name="Content Placeholder 3">
            <a:extLst>
              <a:ext uri="{FF2B5EF4-FFF2-40B4-BE49-F238E27FC236}">
                <a16:creationId xmlns:a16="http://schemas.microsoft.com/office/drawing/2014/main" id="{056021FD-8573-454E-AAE6-0DB770428D43}"/>
              </a:ext>
            </a:extLst>
          </p:cNvPr>
          <p:cNvSpPr>
            <a:spLocks noGrp="1"/>
          </p:cNvSpPr>
          <p:nvPr>
            <p:ph idx="1"/>
          </p:nvPr>
        </p:nvSpPr>
        <p:spPr>
          <a:xfrm>
            <a:off x="838200" y="2066492"/>
            <a:ext cx="10515600" cy="4351338"/>
          </a:xfrm>
        </p:spPr>
        <p:txBody>
          <a:bodyPr/>
          <a:lstStyle/>
          <a:p>
            <a:pPr>
              <a:buFont typeface="Arial" panose="020B0604020202020204" pitchFamily="34" charset="0"/>
              <a:buChar char="•"/>
            </a:pPr>
            <a:r>
              <a:rPr lang="en-US" dirty="0"/>
              <a:t>Traditional appointment booking often depends on manual communication. </a:t>
            </a:r>
          </a:p>
          <a:p>
            <a:pPr>
              <a:buFont typeface="Arial" panose="020B0604020202020204" pitchFamily="34" charset="0"/>
              <a:buChar char="•"/>
            </a:pPr>
            <a:r>
              <a:rPr lang="en-US" dirty="0"/>
              <a:t>Patients may need to contact hospitals to check doctor availability. </a:t>
            </a:r>
          </a:p>
          <a:p>
            <a:pPr>
              <a:buFont typeface="Arial" panose="020B0604020202020204" pitchFamily="34" charset="0"/>
              <a:buChar char="•"/>
            </a:pPr>
            <a:r>
              <a:rPr lang="en-US" dirty="0"/>
              <a:t>Appointment information may not be centrally organized. </a:t>
            </a:r>
          </a:p>
          <a:p>
            <a:pPr>
              <a:buFont typeface="Arial" panose="020B0604020202020204" pitchFamily="34" charset="0"/>
              <a:buChar char="•"/>
            </a:pPr>
            <a:r>
              <a:rPr lang="en-US" dirty="0"/>
              <a:t>Managing cancellations and rescheduling can be difficult. </a:t>
            </a:r>
          </a:p>
          <a:p>
            <a:pPr>
              <a:buFont typeface="Arial" panose="020B0604020202020204" pitchFamily="34" charset="0"/>
              <a:buChar char="•"/>
            </a:pPr>
            <a:r>
              <a:rPr lang="en-US" dirty="0"/>
              <a:t>Manual management increases the possibility of scheduling conflicts. </a:t>
            </a:r>
          </a:p>
          <a:p>
            <a:endParaRPr lang="en-US" dirty="0"/>
          </a:p>
        </p:txBody>
      </p:sp>
    </p:spTree>
    <p:extLst>
      <p:ext uri="{BB962C8B-B14F-4D97-AF65-F5344CB8AC3E}">
        <p14:creationId xmlns:p14="http://schemas.microsoft.com/office/powerpoint/2010/main" val="34850867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47D086-C570-6965-FE9B-0BC9CC8DC9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739E69-F203-A171-A5A3-B886BB15A4B9}"/>
              </a:ext>
            </a:extLst>
          </p:cNvPr>
          <p:cNvSpPr>
            <a:spLocks noGrp="1"/>
          </p:cNvSpPr>
          <p:nvPr>
            <p:ph type="title"/>
          </p:nvPr>
        </p:nvSpPr>
        <p:spPr/>
        <p:txBody>
          <a:bodyPr>
            <a:normAutofit/>
          </a:bodyPr>
          <a:lstStyle/>
          <a:p>
            <a:pPr algn="ctr"/>
            <a:r>
              <a:rPr lang="en-IN" sz="3200" b="1" dirty="0">
                <a:solidFill>
                  <a:srgbClr val="0070C0"/>
                </a:solidFill>
                <a:latin typeface="+mn-lt"/>
              </a:rPr>
              <a:t>PROBLEM</a:t>
            </a:r>
            <a:endParaRPr lang="en-IN" sz="3200" dirty="0">
              <a:solidFill>
                <a:srgbClr val="0070C0"/>
              </a:solidFill>
              <a:latin typeface="+mn-lt"/>
            </a:endParaRPr>
          </a:p>
        </p:txBody>
      </p:sp>
      <p:sp>
        <p:nvSpPr>
          <p:cNvPr id="5" name="Footer Placeholder 4">
            <a:extLst>
              <a:ext uri="{FF2B5EF4-FFF2-40B4-BE49-F238E27FC236}">
                <a16:creationId xmlns:a16="http://schemas.microsoft.com/office/drawing/2014/main" id="{CBD7E664-BF08-3F4A-316F-C5F90E27A19A}"/>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F41522F1-A86A-A779-FD8E-AD3FAD0133B7}"/>
              </a:ext>
            </a:extLst>
          </p:cNvPr>
          <p:cNvSpPr>
            <a:spLocks noGrp="1"/>
          </p:cNvSpPr>
          <p:nvPr>
            <p:ph type="sldNum" sz="quarter" idx="12"/>
          </p:nvPr>
        </p:nvSpPr>
        <p:spPr/>
        <p:txBody>
          <a:bodyPr/>
          <a:lstStyle/>
          <a:p>
            <a:fld id="{B961B71F-4B40-8942-BB88-E0F5C0B46E10}" type="slidenum">
              <a:rPr lang="en-US" smtClean="0"/>
              <a:t>6</a:t>
            </a:fld>
            <a:endParaRPr lang="en-US"/>
          </a:p>
        </p:txBody>
      </p:sp>
      <p:sp>
        <p:nvSpPr>
          <p:cNvPr id="4" name="Content Placeholder 3">
            <a:extLst>
              <a:ext uri="{FF2B5EF4-FFF2-40B4-BE49-F238E27FC236}">
                <a16:creationId xmlns:a16="http://schemas.microsoft.com/office/drawing/2014/main" id="{1A1C0964-43C5-DE58-F74B-F0B3B1F5C984}"/>
              </a:ext>
            </a:extLst>
          </p:cNvPr>
          <p:cNvSpPr>
            <a:spLocks noGrp="1"/>
          </p:cNvSpPr>
          <p:nvPr>
            <p:ph idx="1"/>
          </p:nvPr>
        </p:nvSpPr>
        <p:spPr/>
        <p:txBody>
          <a:bodyPr/>
          <a:lstStyle/>
          <a:p>
            <a:pPr>
              <a:buFont typeface="Arial" panose="020B0604020202020204" pitchFamily="34" charset="0"/>
              <a:buChar char="•"/>
            </a:pPr>
            <a:r>
              <a:rPr lang="en-US" dirty="0"/>
              <a:t>Difficulty in finding available doctors. </a:t>
            </a:r>
          </a:p>
          <a:p>
            <a:pPr>
              <a:buFont typeface="Arial" panose="020B0604020202020204" pitchFamily="34" charset="0"/>
              <a:buChar char="•"/>
            </a:pPr>
            <a:r>
              <a:rPr lang="en-US" dirty="0"/>
              <a:t>Manual appointment scheduling is time-consuming. </a:t>
            </a:r>
          </a:p>
          <a:p>
            <a:pPr>
              <a:buFont typeface="Arial" panose="020B0604020202020204" pitchFamily="34" charset="0"/>
              <a:buChar char="•"/>
            </a:pPr>
            <a:r>
              <a:rPr lang="en-US" dirty="0"/>
              <a:t>Patients may not have real-time visibility of available slots. </a:t>
            </a:r>
          </a:p>
          <a:p>
            <a:pPr>
              <a:buFont typeface="Arial" panose="020B0604020202020204" pitchFamily="34" charset="0"/>
              <a:buChar char="•"/>
            </a:pPr>
            <a:r>
              <a:rPr lang="en-US" dirty="0"/>
              <a:t>Appointment conflicts can occur. </a:t>
            </a:r>
          </a:p>
          <a:p>
            <a:pPr>
              <a:buFont typeface="Arial" panose="020B0604020202020204" pitchFamily="34" charset="0"/>
              <a:buChar char="•"/>
            </a:pPr>
            <a:r>
              <a:rPr lang="en-US" dirty="0"/>
              <a:t>Managing patient appointments and records manually is difficult. </a:t>
            </a:r>
          </a:p>
          <a:p>
            <a:pPr>
              <a:buFont typeface="Arial" panose="020B0604020202020204" pitchFamily="34" charset="0"/>
              <a:buChar char="•"/>
            </a:pPr>
            <a:r>
              <a:rPr lang="en-US" dirty="0"/>
              <a:t>Secure access is required for patient and administrator functions. </a:t>
            </a:r>
          </a:p>
          <a:p>
            <a:endParaRPr lang="en-US" dirty="0"/>
          </a:p>
        </p:txBody>
      </p:sp>
    </p:spTree>
    <p:extLst>
      <p:ext uri="{BB962C8B-B14F-4D97-AF65-F5344CB8AC3E}">
        <p14:creationId xmlns:p14="http://schemas.microsoft.com/office/powerpoint/2010/main" val="20292249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B1D2BB-24DC-B783-7CA6-93F4D0FDD5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DF7F70-D950-780B-9427-7B1B3DAFF9D0}"/>
              </a:ext>
            </a:extLst>
          </p:cNvPr>
          <p:cNvSpPr>
            <a:spLocks noGrp="1"/>
          </p:cNvSpPr>
          <p:nvPr>
            <p:ph type="title"/>
          </p:nvPr>
        </p:nvSpPr>
        <p:spPr/>
        <p:txBody>
          <a:bodyPr>
            <a:normAutofit/>
          </a:bodyPr>
          <a:lstStyle/>
          <a:p>
            <a:pPr algn="ctr"/>
            <a:r>
              <a:rPr lang="en-IN" sz="3200" b="1" dirty="0">
                <a:solidFill>
                  <a:srgbClr val="0070C0"/>
                </a:solidFill>
                <a:latin typeface="+mn-lt"/>
              </a:rPr>
              <a:t>SOLUTION(Contribution)</a:t>
            </a:r>
            <a:endParaRPr lang="en-IN" sz="3200" dirty="0">
              <a:solidFill>
                <a:srgbClr val="0070C0"/>
              </a:solidFill>
              <a:latin typeface="+mn-lt"/>
            </a:endParaRPr>
          </a:p>
        </p:txBody>
      </p:sp>
      <p:sp>
        <p:nvSpPr>
          <p:cNvPr id="5" name="Footer Placeholder 4">
            <a:extLst>
              <a:ext uri="{FF2B5EF4-FFF2-40B4-BE49-F238E27FC236}">
                <a16:creationId xmlns:a16="http://schemas.microsoft.com/office/drawing/2014/main" id="{0D3B14AD-C0C8-6663-E0C7-1AAF7B63E4F8}"/>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19DA39EF-2DDE-9002-F716-F77A6113DF3D}"/>
              </a:ext>
            </a:extLst>
          </p:cNvPr>
          <p:cNvSpPr>
            <a:spLocks noGrp="1"/>
          </p:cNvSpPr>
          <p:nvPr>
            <p:ph type="sldNum" sz="quarter" idx="12"/>
          </p:nvPr>
        </p:nvSpPr>
        <p:spPr/>
        <p:txBody>
          <a:bodyPr/>
          <a:lstStyle/>
          <a:p>
            <a:fld id="{B961B71F-4B40-8942-BB88-E0F5C0B46E10}" type="slidenum">
              <a:rPr lang="en-US" smtClean="0"/>
              <a:t>7</a:t>
            </a:fld>
            <a:endParaRPr lang="en-US"/>
          </a:p>
        </p:txBody>
      </p:sp>
      <p:sp>
        <p:nvSpPr>
          <p:cNvPr id="4" name="Content Placeholder 3">
            <a:extLst>
              <a:ext uri="{FF2B5EF4-FFF2-40B4-BE49-F238E27FC236}">
                <a16:creationId xmlns:a16="http://schemas.microsoft.com/office/drawing/2014/main" id="{A105A205-0B24-5585-AD3A-14F0657A956C}"/>
              </a:ext>
            </a:extLst>
          </p:cNvPr>
          <p:cNvSpPr>
            <a:spLocks noGrp="1"/>
          </p:cNvSpPr>
          <p:nvPr>
            <p:ph idx="1"/>
          </p:nvPr>
        </p:nvSpPr>
        <p:spPr/>
        <p:txBody>
          <a:bodyPr>
            <a:normAutofit fontScale="92500" lnSpcReduction="20000"/>
          </a:bodyPr>
          <a:lstStyle/>
          <a:p>
            <a:r>
              <a:rPr lang="en-US" b="1" dirty="0"/>
              <a:t>CarePlus Healthcare Appointment System</a:t>
            </a:r>
            <a:endParaRPr lang="en-US" dirty="0"/>
          </a:p>
          <a:p>
            <a:pPr>
              <a:buFont typeface="Arial" panose="020B0604020202020204" pitchFamily="34" charset="0"/>
              <a:buChar char="•"/>
            </a:pPr>
            <a:r>
              <a:rPr lang="en-US" dirty="0"/>
              <a:t>Online patient registration and login. </a:t>
            </a:r>
          </a:p>
          <a:p>
            <a:pPr>
              <a:buFont typeface="Arial" panose="020B0604020202020204" pitchFamily="34" charset="0"/>
              <a:buChar char="•"/>
            </a:pPr>
            <a:r>
              <a:rPr lang="en-US" dirty="0"/>
              <a:t>Doctor search based on specialization. </a:t>
            </a:r>
          </a:p>
          <a:p>
            <a:pPr>
              <a:buFont typeface="Arial" panose="020B0604020202020204" pitchFamily="34" charset="0"/>
              <a:buChar char="•"/>
            </a:pPr>
            <a:r>
              <a:rPr lang="en-US" dirty="0"/>
              <a:t>Doctor profile and availability viewing. </a:t>
            </a:r>
          </a:p>
          <a:p>
            <a:pPr>
              <a:buFont typeface="Arial" panose="020B0604020202020204" pitchFamily="34" charset="0"/>
              <a:buChar char="•"/>
            </a:pPr>
            <a:r>
              <a:rPr lang="en-US" dirty="0"/>
              <a:t>Calendar-based appointment selection. </a:t>
            </a:r>
          </a:p>
          <a:p>
            <a:pPr>
              <a:buFont typeface="Arial" panose="020B0604020202020204" pitchFamily="34" charset="0"/>
              <a:buChar char="•"/>
            </a:pPr>
            <a:r>
              <a:rPr lang="en-US" dirty="0"/>
              <a:t>Time-slot booking with backend validation. </a:t>
            </a:r>
          </a:p>
          <a:p>
            <a:pPr>
              <a:buFont typeface="Arial" panose="020B0604020202020204" pitchFamily="34" charset="0"/>
              <a:buChar char="•"/>
            </a:pPr>
            <a:r>
              <a:rPr lang="en-US" dirty="0"/>
              <a:t>Appointment cancellation and rescheduling. </a:t>
            </a:r>
          </a:p>
          <a:p>
            <a:pPr>
              <a:buFont typeface="Arial" panose="020B0604020202020204" pitchFamily="34" charset="0"/>
              <a:buChar char="•"/>
            </a:pPr>
            <a:r>
              <a:rPr lang="en-US" dirty="0"/>
              <a:t>Notifications and appointment history. </a:t>
            </a:r>
          </a:p>
          <a:p>
            <a:pPr>
              <a:buFont typeface="Arial" panose="020B0604020202020204" pitchFamily="34" charset="0"/>
              <a:buChar char="•"/>
            </a:pPr>
            <a:r>
              <a:rPr lang="en-US" dirty="0"/>
              <a:t>Demo payment and receipt generation. </a:t>
            </a:r>
          </a:p>
          <a:p>
            <a:pPr>
              <a:buFont typeface="Arial" panose="020B0604020202020204" pitchFamily="34" charset="0"/>
              <a:buChar char="•"/>
            </a:pPr>
            <a:r>
              <a:rPr lang="en-US" dirty="0"/>
              <a:t>Administrator dashboard for system management. </a:t>
            </a:r>
          </a:p>
          <a:p>
            <a:endParaRPr lang="en-US" dirty="0"/>
          </a:p>
        </p:txBody>
      </p:sp>
    </p:spTree>
    <p:extLst>
      <p:ext uri="{BB962C8B-B14F-4D97-AF65-F5344CB8AC3E}">
        <p14:creationId xmlns:p14="http://schemas.microsoft.com/office/powerpoint/2010/main" val="39498318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2553A8-3533-6CAA-B371-DE8FA0254E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5B2015-9851-BB00-C9BE-D0201418CFFF}"/>
              </a:ext>
            </a:extLst>
          </p:cNvPr>
          <p:cNvSpPr>
            <a:spLocks noGrp="1"/>
          </p:cNvSpPr>
          <p:nvPr>
            <p:ph type="title"/>
          </p:nvPr>
        </p:nvSpPr>
        <p:spPr/>
        <p:txBody>
          <a:bodyPr>
            <a:normAutofit/>
          </a:bodyPr>
          <a:lstStyle/>
          <a:p>
            <a:pPr algn="ctr"/>
            <a:r>
              <a:rPr lang="en-IN" sz="3200" b="1" dirty="0">
                <a:solidFill>
                  <a:srgbClr val="0070C0"/>
                </a:solidFill>
                <a:latin typeface="+mn-lt"/>
              </a:rPr>
              <a:t>Objectives </a:t>
            </a:r>
            <a:endParaRPr lang="en-IN" sz="3200" dirty="0">
              <a:solidFill>
                <a:srgbClr val="0070C0"/>
              </a:solidFill>
              <a:latin typeface="+mn-lt"/>
            </a:endParaRPr>
          </a:p>
        </p:txBody>
      </p:sp>
      <p:sp>
        <p:nvSpPr>
          <p:cNvPr id="5" name="Footer Placeholder 4">
            <a:extLst>
              <a:ext uri="{FF2B5EF4-FFF2-40B4-BE49-F238E27FC236}">
                <a16:creationId xmlns:a16="http://schemas.microsoft.com/office/drawing/2014/main" id="{616106D5-4F08-32F7-69CA-DA0983824FDF}"/>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F5C2EE72-0990-73F7-3A95-5511C5AA0B2D}"/>
              </a:ext>
            </a:extLst>
          </p:cNvPr>
          <p:cNvSpPr>
            <a:spLocks noGrp="1"/>
          </p:cNvSpPr>
          <p:nvPr>
            <p:ph type="sldNum" sz="quarter" idx="12"/>
          </p:nvPr>
        </p:nvSpPr>
        <p:spPr/>
        <p:txBody>
          <a:bodyPr/>
          <a:lstStyle/>
          <a:p>
            <a:fld id="{B961B71F-4B40-8942-BB88-E0F5C0B46E10}" type="slidenum">
              <a:rPr lang="en-US" smtClean="0"/>
              <a:t>8</a:t>
            </a:fld>
            <a:endParaRPr lang="en-US"/>
          </a:p>
        </p:txBody>
      </p:sp>
      <p:sp>
        <p:nvSpPr>
          <p:cNvPr id="4" name="Content Placeholder 3">
            <a:extLst>
              <a:ext uri="{FF2B5EF4-FFF2-40B4-BE49-F238E27FC236}">
                <a16:creationId xmlns:a16="http://schemas.microsoft.com/office/drawing/2014/main" id="{D440F2FD-B824-35C5-9EAA-5AF510938C36}"/>
              </a:ext>
            </a:extLst>
          </p:cNvPr>
          <p:cNvSpPr>
            <a:spLocks noGrp="1"/>
          </p:cNvSpPr>
          <p:nvPr>
            <p:ph idx="1"/>
          </p:nvPr>
        </p:nvSpPr>
        <p:spPr/>
        <p:txBody>
          <a:bodyPr/>
          <a:lstStyle/>
          <a:p>
            <a:pPr>
              <a:buFont typeface="Arial" panose="020B0604020202020204" pitchFamily="34" charset="0"/>
              <a:buChar char="•"/>
            </a:pPr>
            <a:r>
              <a:rPr lang="en-US" dirty="0"/>
              <a:t>Develop an easy-to-use healthcare appointment platform. </a:t>
            </a:r>
          </a:p>
          <a:p>
            <a:pPr>
              <a:buFont typeface="Arial" panose="020B0604020202020204" pitchFamily="34" charset="0"/>
              <a:buChar char="•"/>
            </a:pPr>
            <a:r>
              <a:rPr lang="en-US" dirty="0"/>
              <a:t>Provide secure patient and administrator authentication. </a:t>
            </a:r>
          </a:p>
          <a:p>
            <a:pPr>
              <a:buFont typeface="Arial" panose="020B0604020202020204" pitchFamily="34" charset="0"/>
              <a:buChar char="•"/>
            </a:pPr>
            <a:r>
              <a:rPr lang="en-US" dirty="0"/>
              <a:t>Allow patients to search and view doctors. </a:t>
            </a:r>
          </a:p>
          <a:p>
            <a:pPr>
              <a:buFont typeface="Arial" panose="020B0604020202020204" pitchFamily="34" charset="0"/>
              <a:buChar char="•"/>
            </a:pPr>
            <a:r>
              <a:rPr lang="en-US" dirty="0"/>
              <a:t>Display doctor availability and appointment slots. </a:t>
            </a:r>
          </a:p>
          <a:p>
            <a:pPr>
              <a:buFont typeface="Arial" panose="020B0604020202020204" pitchFamily="34" charset="0"/>
              <a:buChar char="•"/>
            </a:pPr>
            <a:r>
              <a:rPr lang="en-US" dirty="0"/>
              <a:t>Prevent invalid or conflicting bookings. </a:t>
            </a:r>
          </a:p>
          <a:p>
            <a:pPr>
              <a:buFont typeface="Arial" panose="020B0604020202020204" pitchFamily="34" charset="0"/>
              <a:buChar char="•"/>
            </a:pPr>
            <a:r>
              <a:rPr lang="en-US" dirty="0"/>
              <a:t>Manage appointments and notifications. </a:t>
            </a:r>
          </a:p>
          <a:p>
            <a:pPr>
              <a:buFont typeface="Arial" panose="020B0604020202020204" pitchFamily="34" charset="0"/>
              <a:buChar char="•"/>
            </a:pPr>
            <a:r>
              <a:rPr lang="en-US" dirty="0"/>
              <a:t>Provide demo payment and receipt functionality. </a:t>
            </a:r>
          </a:p>
          <a:p>
            <a:pPr>
              <a:buFont typeface="Arial" panose="020B0604020202020204" pitchFamily="34" charset="0"/>
              <a:buChar char="•"/>
            </a:pPr>
            <a:r>
              <a:rPr lang="en-US" dirty="0"/>
              <a:t>Provide administrative management facilities. </a:t>
            </a:r>
          </a:p>
          <a:p>
            <a:endParaRPr lang="en-US" dirty="0"/>
          </a:p>
        </p:txBody>
      </p:sp>
    </p:spTree>
    <p:extLst>
      <p:ext uri="{BB962C8B-B14F-4D97-AF65-F5344CB8AC3E}">
        <p14:creationId xmlns:p14="http://schemas.microsoft.com/office/powerpoint/2010/main" val="24020797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1E377E-B28A-2AB9-1E52-312C1B6D0B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C0CE29-8CD2-1FFC-0567-2D18CBDB16C4}"/>
              </a:ext>
            </a:extLst>
          </p:cNvPr>
          <p:cNvSpPr>
            <a:spLocks noGrp="1"/>
          </p:cNvSpPr>
          <p:nvPr>
            <p:ph type="title"/>
          </p:nvPr>
        </p:nvSpPr>
        <p:spPr/>
        <p:txBody>
          <a:bodyPr>
            <a:normAutofit/>
          </a:bodyPr>
          <a:lstStyle/>
          <a:p>
            <a:pPr algn="ctr"/>
            <a:r>
              <a:rPr lang="en-IN" sz="3200" b="1" dirty="0">
                <a:solidFill>
                  <a:srgbClr val="0070C0"/>
                </a:solidFill>
                <a:latin typeface="+mn-lt"/>
              </a:rPr>
              <a:t>Modules</a:t>
            </a:r>
            <a:endParaRPr lang="en-IN" sz="3200" dirty="0">
              <a:solidFill>
                <a:srgbClr val="0070C0"/>
              </a:solidFill>
              <a:latin typeface="+mn-lt"/>
            </a:endParaRPr>
          </a:p>
        </p:txBody>
      </p:sp>
      <p:sp>
        <p:nvSpPr>
          <p:cNvPr id="5" name="Footer Placeholder 4">
            <a:extLst>
              <a:ext uri="{FF2B5EF4-FFF2-40B4-BE49-F238E27FC236}">
                <a16:creationId xmlns:a16="http://schemas.microsoft.com/office/drawing/2014/main" id="{CDFE5840-59B4-6944-E4BB-E2BB1AD677B3}"/>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8FB9982D-9C14-E702-5AE1-C9030BFD26B0}"/>
              </a:ext>
            </a:extLst>
          </p:cNvPr>
          <p:cNvSpPr>
            <a:spLocks noGrp="1"/>
          </p:cNvSpPr>
          <p:nvPr>
            <p:ph type="sldNum" sz="quarter" idx="12"/>
          </p:nvPr>
        </p:nvSpPr>
        <p:spPr/>
        <p:txBody>
          <a:bodyPr/>
          <a:lstStyle/>
          <a:p>
            <a:fld id="{B961B71F-4B40-8942-BB88-E0F5C0B46E10}" type="slidenum">
              <a:rPr lang="en-US" smtClean="0"/>
              <a:t>9</a:t>
            </a:fld>
            <a:endParaRPr lang="en-US"/>
          </a:p>
        </p:txBody>
      </p:sp>
      <p:graphicFrame>
        <p:nvGraphicFramePr>
          <p:cNvPr id="3" name="Content Placeholder 2">
            <a:extLst>
              <a:ext uri="{FF2B5EF4-FFF2-40B4-BE49-F238E27FC236}">
                <a16:creationId xmlns:a16="http://schemas.microsoft.com/office/drawing/2014/main" id="{8CE8197E-1B4E-4DD0-8CA3-D526A01E2E00}"/>
              </a:ext>
            </a:extLst>
          </p:cNvPr>
          <p:cNvGraphicFramePr>
            <a:graphicFrameLocks noGrp="1"/>
          </p:cNvGraphicFramePr>
          <p:nvPr>
            <p:ph idx="1"/>
            <p:extLst>
              <p:ext uri="{D42A27DB-BD31-4B8C-83A1-F6EECF244321}">
                <p14:modId xmlns:p14="http://schemas.microsoft.com/office/powerpoint/2010/main" val="2089252667"/>
              </p:ext>
            </p:extLst>
          </p:nvPr>
        </p:nvGraphicFramePr>
        <p:xfrm>
          <a:off x="838200" y="2115228"/>
          <a:ext cx="10515600" cy="3291840"/>
        </p:xfrm>
        <a:graphic>
          <a:graphicData uri="http://schemas.openxmlformats.org/drawingml/2006/table">
            <a:tbl>
              <a:tblPr/>
              <a:tblGrid>
                <a:gridCol w="3505200">
                  <a:extLst>
                    <a:ext uri="{9D8B030D-6E8A-4147-A177-3AD203B41FA5}">
                      <a16:colId xmlns:a16="http://schemas.microsoft.com/office/drawing/2014/main" val="1165455731"/>
                    </a:ext>
                  </a:extLst>
                </a:gridCol>
                <a:gridCol w="3505200">
                  <a:extLst>
                    <a:ext uri="{9D8B030D-6E8A-4147-A177-3AD203B41FA5}">
                      <a16:colId xmlns:a16="http://schemas.microsoft.com/office/drawing/2014/main" val="3962706819"/>
                    </a:ext>
                  </a:extLst>
                </a:gridCol>
                <a:gridCol w="3505200">
                  <a:extLst>
                    <a:ext uri="{9D8B030D-6E8A-4147-A177-3AD203B41FA5}">
                      <a16:colId xmlns:a16="http://schemas.microsoft.com/office/drawing/2014/main" val="2245657391"/>
                    </a:ext>
                  </a:extLst>
                </a:gridCol>
              </a:tblGrid>
              <a:tr h="0">
                <a:tc>
                  <a:txBody>
                    <a:bodyPr/>
                    <a:lstStyle/>
                    <a:p>
                      <a:r>
                        <a:rPr lang="en-IN"/>
                        <a:t>👤 </a:t>
                      </a:r>
                      <a:r>
                        <a:rPr lang="en-IN" b="1"/>
                        <a:t>PATIENT MODULE</a:t>
                      </a:r>
                      <a:endParaRPr lang="en-IN"/>
                    </a:p>
                  </a:txBody>
                  <a:tcPr anchor="ctr">
                    <a:lnL>
                      <a:noFill/>
                    </a:lnL>
                    <a:lnR>
                      <a:noFill/>
                    </a:lnR>
                    <a:lnT>
                      <a:noFill/>
                    </a:lnT>
                    <a:lnB>
                      <a:noFill/>
                    </a:lnB>
                  </a:tcPr>
                </a:tc>
                <a:tc>
                  <a:txBody>
                    <a:bodyPr/>
                    <a:lstStyle/>
                    <a:p>
                      <a:r>
                        <a:rPr lang="en-IN"/>
                        <a:t>🛠️ </a:t>
                      </a:r>
                      <a:r>
                        <a:rPr lang="en-IN" b="1"/>
                        <a:t>ADMIN MODULE</a:t>
                      </a:r>
                      <a:endParaRPr lang="en-IN"/>
                    </a:p>
                  </a:txBody>
                  <a:tcPr anchor="ctr">
                    <a:lnL>
                      <a:noFill/>
                    </a:lnL>
                    <a:lnR>
                      <a:noFill/>
                    </a:lnR>
                    <a:lnT>
                      <a:noFill/>
                    </a:lnT>
                    <a:lnB>
                      <a:noFill/>
                    </a:lnB>
                  </a:tcPr>
                </a:tc>
                <a:tc>
                  <a:txBody>
                    <a:bodyPr/>
                    <a:lstStyle/>
                    <a:p>
                      <a:r>
                        <a:rPr lang="en-IN"/>
                        <a:t>⚙️ </a:t>
                      </a:r>
                      <a:r>
                        <a:rPr lang="en-IN" b="1"/>
                        <a:t>BACKEND &amp; DATABASE</a:t>
                      </a:r>
                      <a:endParaRPr lang="en-IN"/>
                    </a:p>
                  </a:txBody>
                  <a:tcPr anchor="ctr">
                    <a:lnL>
                      <a:noFill/>
                    </a:lnL>
                    <a:lnR>
                      <a:noFill/>
                    </a:lnR>
                    <a:lnT>
                      <a:noFill/>
                    </a:lnT>
                    <a:lnB>
                      <a:noFill/>
                    </a:lnB>
                  </a:tcPr>
                </a:tc>
                <a:extLst>
                  <a:ext uri="{0D108BD9-81ED-4DB2-BD59-A6C34878D82A}">
                    <a16:rowId xmlns:a16="http://schemas.microsoft.com/office/drawing/2014/main" val="3469428889"/>
                  </a:ext>
                </a:extLst>
              </a:tr>
              <a:tr h="0">
                <a:tc>
                  <a:txBody>
                    <a:bodyPr/>
                    <a:lstStyle/>
                    <a:p>
                      <a:r>
                        <a:rPr lang="en-IN"/>
                        <a:t>• Registration &amp; Login</a:t>
                      </a:r>
                    </a:p>
                  </a:txBody>
                  <a:tcPr anchor="ctr">
                    <a:lnL>
                      <a:noFill/>
                    </a:lnL>
                    <a:lnR>
                      <a:noFill/>
                    </a:lnR>
                    <a:lnT>
                      <a:noFill/>
                    </a:lnT>
                    <a:lnB>
                      <a:noFill/>
                    </a:lnB>
                  </a:tcPr>
                </a:tc>
                <a:tc>
                  <a:txBody>
                    <a:bodyPr/>
                    <a:lstStyle/>
                    <a:p>
                      <a:r>
                        <a:rPr lang="en-IN"/>
                        <a:t>• Admin Login &amp; Dashboard</a:t>
                      </a:r>
                    </a:p>
                  </a:txBody>
                  <a:tcPr anchor="ctr">
                    <a:lnL>
                      <a:noFill/>
                    </a:lnL>
                    <a:lnR>
                      <a:noFill/>
                    </a:lnR>
                    <a:lnT>
                      <a:noFill/>
                    </a:lnT>
                    <a:lnB>
                      <a:noFill/>
                    </a:lnB>
                  </a:tcPr>
                </a:tc>
                <a:tc>
                  <a:txBody>
                    <a:bodyPr/>
                    <a:lstStyle/>
                    <a:p>
                      <a:r>
                        <a:rPr lang="en-IN"/>
                        <a:t>• REST API Development</a:t>
                      </a:r>
                    </a:p>
                  </a:txBody>
                  <a:tcPr anchor="ctr">
                    <a:lnL>
                      <a:noFill/>
                    </a:lnL>
                    <a:lnR>
                      <a:noFill/>
                    </a:lnR>
                    <a:lnT>
                      <a:noFill/>
                    </a:lnT>
                    <a:lnB>
                      <a:noFill/>
                    </a:lnB>
                  </a:tcPr>
                </a:tc>
                <a:extLst>
                  <a:ext uri="{0D108BD9-81ED-4DB2-BD59-A6C34878D82A}">
                    <a16:rowId xmlns:a16="http://schemas.microsoft.com/office/drawing/2014/main" val="3020489494"/>
                  </a:ext>
                </a:extLst>
              </a:tr>
              <a:tr h="0">
                <a:tc>
                  <a:txBody>
                    <a:bodyPr/>
                    <a:lstStyle/>
                    <a:p>
                      <a:r>
                        <a:rPr lang="en-IN"/>
                        <a:t>• Doctor &amp; Specialization Search</a:t>
                      </a:r>
                    </a:p>
                  </a:txBody>
                  <a:tcPr anchor="ctr">
                    <a:lnL>
                      <a:noFill/>
                    </a:lnL>
                    <a:lnR>
                      <a:noFill/>
                    </a:lnR>
                    <a:lnT>
                      <a:noFill/>
                    </a:lnT>
                    <a:lnB>
                      <a:noFill/>
                    </a:lnB>
                  </a:tcPr>
                </a:tc>
                <a:tc>
                  <a:txBody>
                    <a:bodyPr/>
                    <a:lstStyle/>
                    <a:p>
                      <a:r>
                        <a:rPr lang="en-IN"/>
                        <a:t>• Patient Management</a:t>
                      </a:r>
                    </a:p>
                  </a:txBody>
                  <a:tcPr anchor="ctr">
                    <a:lnL>
                      <a:noFill/>
                    </a:lnL>
                    <a:lnR>
                      <a:noFill/>
                    </a:lnR>
                    <a:lnT>
                      <a:noFill/>
                    </a:lnT>
                    <a:lnB>
                      <a:noFill/>
                    </a:lnB>
                  </a:tcPr>
                </a:tc>
                <a:tc>
                  <a:txBody>
                    <a:bodyPr/>
                    <a:lstStyle/>
                    <a:p>
                      <a:r>
                        <a:rPr lang="en-IN"/>
                        <a:t>• Authentication &amp; Authorization</a:t>
                      </a:r>
                    </a:p>
                  </a:txBody>
                  <a:tcPr anchor="ctr">
                    <a:lnL>
                      <a:noFill/>
                    </a:lnL>
                    <a:lnR>
                      <a:noFill/>
                    </a:lnR>
                    <a:lnT>
                      <a:noFill/>
                    </a:lnT>
                    <a:lnB>
                      <a:noFill/>
                    </a:lnB>
                  </a:tcPr>
                </a:tc>
                <a:extLst>
                  <a:ext uri="{0D108BD9-81ED-4DB2-BD59-A6C34878D82A}">
                    <a16:rowId xmlns:a16="http://schemas.microsoft.com/office/drawing/2014/main" val="1939444624"/>
                  </a:ext>
                </a:extLst>
              </a:tr>
              <a:tr h="0">
                <a:tc>
                  <a:txBody>
                    <a:bodyPr/>
                    <a:lstStyle/>
                    <a:p>
                      <a:r>
                        <a:rPr lang="en-IN"/>
                        <a:t>• Doctor Profile &amp; Availability</a:t>
                      </a:r>
                    </a:p>
                  </a:txBody>
                  <a:tcPr anchor="ctr">
                    <a:lnL>
                      <a:noFill/>
                    </a:lnL>
                    <a:lnR>
                      <a:noFill/>
                    </a:lnR>
                    <a:lnT>
                      <a:noFill/>
                    </a:lnT>
                    <a:lnB>
                      <a:noFill/>
                    </a:lnB>
                  </a:tcPr>
                </a:tc>
                <a:tc>
                  <a:txBody>
                    <a:bodyPr/>
                    <a:lstStyle/>
                    <a:p>
                      <a:r>
                        <a:rPr lang="en-IN"/>
                        <a:t>• Doctor Management</a:t>
                      </a:r>
                    </a:p>
                  </a:txBody>
                  <a:tcPr anchor="ctr">
                    <a:lnL>
                      <a:noFill/>
                    </a:lnL>
                    <a:lnR>
                      <a:noFill/>
                    </a:lnR>
                    <a:lnT>
                      <a:noFill/>
                    </a:lnT>
                    <a:lnB>
                      <a:noFill/>
                    </a:lnB>
                  </a:tcPr>
                </a:tc>
                <a:tc>
                  <a:txBody>
                    <a:bodyPr/>
                    <a:lstStyle/>
                    <a:p>
                      <a:r>
                        <a:rPr lang="en-IN"/>
                        <a:t>• Appointment Validation</a:t>
                      </a:r>
                    </a:p>
                  </a:txBody>
                  <a:tcPr anchor="ctr">
                    <a:lnL>
                      <a:noFill/>
                    </a:lnL>
                    <a:lnR>
                      <a:noFill/>
                    </a:lnR>
                    <a:lnT>
                      <a:noFill/>
                    </a:lnT>
                    <a:lnB>
                      <a:noFill/>
                    </a:lnB>
                  </a:tcPr>
                </a:tc>
                <a:extLst>
                  <a:ext uri="{0D108BD9-81ED-4DB2-BD59-A6C34878D82A}">
                    <a16:rowId xmlns:a16="http://schemas.microsoft.com/office/drawing/2014/main" val="827314176"/>
                  </a:ext>
                </a:extLst>
              </a:tr>
              <a:tr h="0">
                <a:tc>
                  <a:txBody>
                    <a:bodyPr/>
                    <a:lstStyle/>
                    <a:p>
                      <a:r>
                        <a:rPr lang="en-IN"/>
                        <a:t>• Calendar &amp; Time-Slot Selection</a:t>
                      </a:r>
                    </a:p>
                  </a:txBody>
                  <a:tcPr anchor="ctr">
                    <a:lnL>
                      <a:noFill/>
                    </a:lnL>
                    <a:lnR>
                      <a:noFill/>
                    </a:lnR>
                    <a:lnT>
                      <a:noFill/>
                    </a:lnT>
                    <a:lnB>
                      <a:noFill/>
                    </a:lnB>
                  </a:tcPr>
                </a:tc>
                <a:tc>
                  <a:txBody>
                    <a:bodyPr/>
                    <a:lstStyle/>
                    <a:p>
                      <a:r>
                        <a:rPr lang="en-IN"/>
                        <a:t>• Doctor Availability</a:t>
                      </a:r>
                    </a:p>
                  </a:txBody>
                  <a:tcPr anchor="ctr">
                    <a:lnL>
                      <a:noFill/>
                    </a:lnL>
                    <a:lnR>
                      <a:noFill/>
                    </a:lnR>
                    <a:lnT>
                      <a:noFill/>
                    </a:lnT>
                    <a:lnB>
                      <a:noFill/>
                    </a:lnB>
                  </a:tcPr>
                </a:tc>
                <a:tc>
                  <a:txBody>
                    <a:bodyPr/>
                    <a:lstStyle/>
                    <a:p>
                      <a:r>
                        <a:rPr lang="en-IN"/>
                        <a:t>• Notification Management</a:t>
                      </a:r>
                    </a:p>
                  </a:txBody>
                  <a:tcPr anchor="ctr">
                    <a:lnL>
                      <a:noFill/>
                    </a:lnL>
                    <a:lnR>
                      <a:noFill/>
                    </a:lnR>
                    <a:lnT>
                      <a:noFill/>
                    </a:lnT>
                    <a:lnB>
                      <a:noFill/>
                    </a:lnB>
                  </a:tcPr>
                </a:tc>
                <a:extLst>
                  <a:ext uri="{0D108BD9-81ED-4DB2-BD59-A6C34878D82A}">
                    <a16:rowId xmlns:a16="http://schemas.microsoft.com/office/drawing/2014/main" val="3095351582"/>
                  </a:ext>
                </a:extLst>
              </a:tr>
              <a:tr h="0">
                <a:tc>
                  <a:txBody>
                    <a:bodyPr/>
                    <a:lstStyle/>
                    <a:p>
                      <a:r>
                        <a:rPr lang="en-IN"/>
                        <a:t>• Appointment Booking</a:t>
                      </a:r>
                    </a:p>
                  </a:txBody>
                  <a:tcPr anchor="ctr">
                    <a:lnL>
                      <a:noFill/>
                    </a:lnL>
                    <a:lnR>
                      <a:noFill/>
                    </a:lnR>
                    <a:lnT>
                      <a:noFill/>
                    </a:lnT>
                    <a:lnB>
                      <a:noFill/>
                    </a:lnB>
                  </a:tcPr>
                </a:tc>
                <a:tc>
                  <a:txBody>
                    <a:bodyPr/>
                    <a:lstStyle/>
                    <a:p>
                      <a:r>
                        <a:rPr lang="en-IN"/>
                        <a:t>• Appointment Management</a:t>
                      </a:r>
                    </a:p>
                  </a:txBody>
                  <a:tcPr anchor="ctr">
                    <a:lnL>
                      <a:noFill/>
                    </a:lnL>
                    <a:lnR>
                      <a:noFill/>
                    </a:lnR>
                    <a:lnT>
                      <a:noFill/>
                    </a:lnT>
                    <a:lnB>
                      <a:noFill/>
                    </a:lnB>
                  </a:tcPr>
                </a:tc>
                <a:tc>
                  <a:txBody>
                    <a:bodyPr/>
                    <a:lstStyle/>
                    <a:p>
                      <a:r>
                        <a:rPr lang="en-IN"/>
                        <a:t>• Payment &amp; Receipt Processing</a:t>
                      </a:r>
                    </a:p>
                  </a:txBody>
                  <a:tcPr anchor="ctr">
                    <a:lnL>
                      <a:noFill/>
                    </a:lnL>
                    <a:lnR>
                      <a:noFill/>
                    </a:lnR>
                    <a:lnT>
                      <a:noFill/>
                    </a:lnT>
                    <a:lnB>
                      <a:noFill/>
                    </a:lnB>
                  </a:tcPr>
                </a:tc>
                <a:extLst>
                  <a:ext uri="{0D108BD9-81ED-4DB2-BD59-A6C34878D82A}">
                    <a16:rowId xmlns:a16="http://schemas.microsoft.com/office/drawing/2014/main" val="1264148856"/>
                  </a:ext>
                </a:extLst>
              </a:tr>
              <a:tr h="0">
                <a:tc>
                  <a:txBody>
                    <a:bodyPr/>
                    <a:lstStyle/>
                    <a:p>
                      <a:r>
                        <a:rPr lang="en-IN"/>
                        <a:t>• Rescheduling &amp; Cancellation</a:t>
                      </a:r>
                    </a:p>
                  </a:txBody>
                  <a:tcPr anchor="ctr">
                    <a:lnL>
                      <a:noFill/>
                    </a:lnL>
                    <a:lnR>
                      <a:noFill/>
                    </a:lnR>
                    <a:lnT>
                      <a:noFill/>
                    </a:lnT>
                    <a:lnB>
                      <a:noFill/>
                    </a:lnB>
                  </a:tcPr>
                </a:tc>
                <a:tc>
                  <a:txBody>
                    <a:bodyPr/>
                    <a:lstStyle/>
                    <a:p>
                      <a:r>
                        <a:rPr lang="en-IN"/>
                        <a:t>• Holiday Management</a:t>
                      </a:r>
                    </a:p>
                  </a:txBody>
                  <a:tcPr anchor="ctr">
                    <a:lnL>
                      <a:noFill/>
                    </a:lnL>
                    <a:lnR>
                      <a:noFill/>
                    </a:lnR>
                    <a:lnT>
                      <a:noFill/>
                    </a:lnT>
                    <a:lnB>
                      <a:noFill/>
                    </a:lnB>
                  </a:tcPr>
                </a:tc>
                <a:tc>
                  <a:txBody>
                    <a:bodyPr/>
                    <a:lstStyle/>
                    <a:p>
                      <a:r>
                        <a:rPr lang="en-IN"/>
                        <a:t>• MySQL Database Management</a:t>
                      </a:r>
                    </a:p>
                  </a:txBody>
                  <a:tcPr anchor="ctr">
                    <a:lnL>
                      <a:noFill/>
                    </a:lnL>
                    <a:lnR>
                      <a:noFill/>
                    </a:lnR>
                    <a:lnT>
                      <a:noFill/>
                    </a:lnT>
                    <a:lnB>
                      <a:noFill/>
                    </a:lnB>
                  </a:tcPr>
                </a:tc>
                <a:extLst>
                  <a:ext uri="{0D108BD9-81ED-4DB2-BD59-A6C34878D82A}">
                    <a16:rowId xmlns:a16="http://schemas.microsoft.com/office/drawing/2014/main" val="2586300248"/>
                  </a:ext>
                </a:extLst>
              </a:tr>
              <a:tr h="0">
                <a:tc>
                  <a:txBody>
                    <a:bodyPr/>
                    <a:lstStyle/>
                    <a:p>
                      <a:r>
                        <a:rPr lang="en-IN"/>
                        <a:t>• Notifications &amp; History</a:t>
                      </a:r>
                    </a:p>
                  </a:txBody>
                  <a:tcPr anchor="ctr">
                    <a:lnL>
                      <a:noFill/>
                    </a:lnL>
                    <a:lnR>
                      <a:noFill/>
                    </a:lnR>
                    <a:lnT>
                      <a:noFill/>
                    </a:lnT>
                    <a:lnB>
                      <a:noFill/>
                    </a:lnB>
                  </a:tcPr>
                </a:tc>
                <a:tc>
                  <a:txBody>
                    <a:bodyPr/>
                    <a:lstStyle/>
                    <a:p>
                      <a:r>
                        <a:rPr lang="en-IN"/>
                        <a:t>• Payment Management</a:t>
                      </a:r>
                    </a:p>
                  </a:txBody>
                  <a:tcPr anchor="ctr">
                    <a:lnL>
                      <a:noFill/>
                    </a:lnL>
                    <a:lnR>
                      <a:noFill/>
                    </a:lnR>
                    <a:lnT>
                      <a:noFill/>
                    </a:lnT>
                    <a:lnB>
                      <a:noFill/>
                    </a:lnB>
                  </a:tcPr>
                </a:tc>
                <a:tc>
                  <a:txBody>
                    <a:bodyPr/>
                    <a:lstStyle/>
                    <a:p>
                      <a:r>
                        <a:rPr lang="en-IN"/>
                        <a:t>• Database Operations</a:t>
                      </a:r>
                    </a:p>
                  </a:txBody>
                  <a:tcPr anchor="ctr">
                    <a:lnL>
                      <a:noFill/>
                    </a:lnL>
                    <a:lnR>
                      <a:noFill/>
                    </a:lnR>
                    <a:lnT>
                      <a:noFill/>
                    </a:lnT>
                    <a:lnB>
                      <a:noFill/>
                    </a:lnB>
                  </a:tcPr>
                </a:tc>
                <a:extLst>
                  <a:ext uri="{0D108BD9-81ED-4DB2-BD59-A6C34878D82A}">
                    <a16:rowId xmlns:a16="http://schemas.microsoft.com/office/drawing/2014/main" val="3787791379"/>
                  </a:ext>
                </a:extLst>
              </a:tr>
              <a:tr h="0">
                <a:tc>
                  <a:txBody>
                    <a:bodyPr/>
                    <a:lstStyle/>
                    <a:p>
                      <a:r>
                        <a:rPr lang="en-IN"/>
                        <a:t>• Demo Payment &amp; Receipt</a:t>
                      </a:r>
                    </a:p>
                  </a:txBody>
                  <a:tcPr anchor="ctr">
                    <a:lnL>
                      <a:noFill/>
                    </a:lnL>
                    <a:lnR>
                      <a:noFill/>
                    </a:lnR>
                    <a:lnT>
                      <a:noFill/>
                    </a:lnT>
                    <a:lnB>
                      <a:noFill/>
                    </a:lnB>
                  </a:tcPr>
                </a:tc>
                <a:tc>
                  <a:txBody>
                    <a:bodyPr/>
                    <a:lstStyle/>
                    <a:p>
                      <a:endParaRPr lang="en-IN"/>
                    </a:p>
                  </a:txBody>
                  <a:tcPr anchor="ctr">
                    <a:lnL>
                      <a:noFill/>
                    </a:lnL>
                    <a:lnR>
                      <a:noFill/>
                    </a:lnR>
                    <a:lnT>
                      <a:noFill/>
                    </a:lnT>
                    <a:lnB>
                      <a:noFill/>
                    </a:lnB>
                  </a:tcPr>
                </a:tc>
                <a:tc>
                  <a:txBody>
                    <a:bodyPr/>
                    <a:lstStyle/>
                    <a:p>
                      <a:endParaRPr lang="en-IN" dirty="0"/>
                    </a:p>
                  </a:txBody>
                  <a:tcPr anchor="ctr">
                    <a:lnL>
                      <a:noFill/>
                    </a:lnL>
                    <a:lnR>
                      <a:noFill/>
                    </a:lnR>
                    <a:lnT>
                      <a:noFill/>
                    </a:lnT>
                    <a:lnB>
                      <a:noFill/>
                    </a:lnB>
                  </a:tcPr>
                </a:tc>
                <a:extLst>
                  <a:ext uri="{0D108BD9-81ED-4DB2-BD59-A6C34878D82A}">
                    <a16:rowId xmlns:a16="http://schemas.microsoft.com/office/drawing/2014/main" val="3441331610"/>
                  </a:ext>
                </a:extLst>
              </a:tr>
            </a:tbl>
          </a:graphicData>
        </a:graphic>
      </p:graphicFrame>
      <p:sp>
        <p:nvSpPr>
          <p:cNvPr id="7" name="Rectangle 6"/>
          <p:cNvSpPr/>
          <p:nvPr/>
        </p:nvSpPr>
        <p:spPr>
          <a:xfrm>
            <a:off x="411480" y="1417320"/>
            <a:ext cx="11338560" cy="46634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1691640"/>
            <a:ext cx="3337560" cy="457200"/>
          </a:xfrm>
          <a:prstGeom prst="rect">
            <a:avLst/>
          </a:prstGeom>
          <a:noFill/>
        </p:spPr>
        <p:txBody>
          <a:bodyPr wrap="none">
            <a:spAutoFit/>
          </a:bodyPr>
          <a:lstStyle/>
          <a:p>
            <a:pPr>
              <a:defRPr sz="2000" b="1">
                <a:solidFill>
                  <a:srgbClr val="0070C0"/>
                </a:solidFill>
              </a:defRPr>
            </a:pPr>
            <a:r>
              <a:t>PATIENT MODULE</a:t>
            </a:r>
          </a:p>
        </p:txBody>
      </p:sp>
      <p:sp>
        <p:nvSpPr>
          <p:cNvPr id="9" name="TextBox 8"/>
          <p:cNvSpPr txBox="1"/>
          <p:nvPr/>
        </p:nvSpPr>
        <p:spPr>
          <a:xfrm>
            <a:off x="594360" y="2148840"/>
            <a:ext cx="3383280" cy="3566160"/>
          </a:xfrm>
          <a:prstGeom prst="rect">
            <a:avLst/>
          </a:prstGeom>
          <a:noFill/>
        </p:spPr>
        <p:txBody>
          <a:bodyPr wrap="square">
            <a:spAutoFit/>
          </a:bodyPr>
          <a:lstStyle/>
          <a:p>
            <a:pPr>
              <a:spcAft>
                <a:spcPts val="700"/>
              </a:spcAft>
              <a:defRPr sz="1600">
                <a:solidFill>
                  <a:srgbClr val="1E1E1E"/>
                </a:solidFill>
              </a:defRPr>
            </a:pPr>
            <a:r>
              <a:t>• Registration &amp; Login</a:t>
            </a:r>
          </a:p>
          <a:p>
            <a:pPr>
              <a:spcAft>
                <a:spcPts val="700"/>
              </a:spcAft>
              <a:defRPr sz="1600">
                <a:solidFill>
                  <a:srgbClr val="1E1E1E"/>
                </a:solidFill>
              </a:defRPr>
            </a:pPr>
            <a:r>
              <a:t>• Doctor &amp; Specialization Search</a:t>
            </a:r>
          </a:p>
          <a:p>
            <a:pPr>
              <a:spcAft>
                <a:spcPts val="700"/>
              </a:spcAft>
              <a:defRPr sz="1600">
                <a:solidFill>
                  <a:srgbClr val="1E1E1E"/>
                </a:solidFill>
              </a:defRPr>
            </a:pPr>
            <a:r>
              <a:t>• Doctor Profile &amp; Availability</a:t>
            </a:r>
          </a:p>
          <a:p>
            <a:pPr>
              <a:spcAft>
                <a:spcPts val="700"/>
              </a:spcAft>
              <a:defRPr sz="1600">
                <a:solidFill>
                  <a:srgbClr val="1E1E1E"/>
                </a:solidFill>
              </a:defRPr>
            </a:pPr>
            <a:r>
              <a:t>• Calendar &amp; Time-Slot Selection</a:t>
            </a:r>
          </a:p>
          <a:p>
            <a:pPr>
              <a:spcAft>
                <a:spcPts val="700"/>
              </a:spcAft>
              <a:defRPr sz="1600">
                <a:solidFill>
                  <a:srgbClr val="1E1E1E"/>
                </a:solidFill>
              </a:defRPr>
            </a:pPr>
            <a:r>
              <a:t>• Appointment Booking</a:t>
            </a:r>
          </a:p>
          <a:p>
            <a:pPr>
              <a:spcAft>
                <a:spcPts val="700"/>
              </a:spcAft>
              <a:defRPr sz="1600">
                <a:solidFill>
                  <a:srgbClr val="1E1E1E"/>
                </a:solidFill>
              </a:defRPr>
            </a:pPr>
            <a:r>
              <a:t>• Rescheduling &amp; Cancellation</a:t>
            </a:r>
          </a:p>
          <a:p>
            <a:pPr>
              <a:spcAft>
                <a:spcPts val="700"/>
              </a:spcAft>
              <a:defRPr sz="1600">
                <a:solidFill>
                  <a:srgbClr val="1E1E1E"/>
                </a:solidFill>
              </a:defRPr>
            </a:pPr>
            <a:r>
              <a:t>• Notifications &amp; History</a:t>
            </a:r>
          </a:p>
          <a:p>
            <a:pPr>
              <a:spcAft>
                <a:spcPts val="700"/>
              </a:spcAft>
              <a:defRPr sz="1600">
                <a:solidFill>
                  <a:srgbClr val="1E1E1E"/>
                </a:solidFill>
              </a:defRPr>
            </a:pPr>
            <a:r>
              <a:t>• Demo Payment &amp; Receipt</a:t>
            </a:r>
          </a:p>
        </p:txBody>
      </p:sp>
      <p:sp>
        <p:nvSpPr>
          <p:cNvPr id="10" name="TextBox 9"/>
          <p:cNvSpPr txBox="1"/>
          <p:nvPr/>
        </p:nvSpPr>
        <p:spPr>
          <a:xfrm>
            <a:off x="4160520" y="1691640"/>
            <a:ext cx="3337560" cy="457200"/>
          </a:xfrm>
          <a:prstGeom prst="rect">
            <a:avLst/>
          </a:prstGeom>
          <a:noFill/>
        </p:spPr>
        <p:txBody>
          <a:bodyPr wrap="none">
            <a:spAutoFit/>
          </a:bodyPr>
          <a:lstStyle/>
          <a:p>
            <a:pPr>
              <a:defRPr sz="2000" b="1">
                <a:solidFill>
                  <a:srgbClr val="0070C0"/>
                </a:solidFill>
              </a:defRPr>
            </a:pPr>
            <a:r>
              <a:t>ADMIN MODULE</a:t>
            </a:r>
          </a:p>
        </p:txBody>
      </p:sp>
      <p:sp>
        <p:nvSpPr>
          <p:cNvPr id="11" name="TextBox 10"/>
          <p:cNvSpPr txBox="1"/>
          <p:nvPr/>
        </p:nvSpPr>
        <p:spPr>
          <a:xfrm>
            <a:off x="4160520" y="2148840"/>
            <a:ext cx="3383280" cy="3566160"/>
          </a:xfrm>
          <a:prstGeom prst="rect">
            <a:avLst/>
          </a:prstGeom>
          <a:noFill/>
        </p:spPr>
        <p:txBody>
          <a:bodyPr wrap="square">
            <a:spAutoFit/>
          </a:bodyPr>
          <a:lstStyle/>
          <a:p>
            <a:pPr>
              <a:spcAft>
                <a:spcPts val="700"/>
              </a:spcAft>
              <a:defRPr sz="1600">
                <a:solidFill>
                  <a:srgbClr val="1E1E1E"/>
                </a:solidFill>
              </a:defRPr>
            </a:pPr>
            <a:r>
              <a:t>• Admin Login &amp; Dashboard</a:t>
            </a:r>
          </a:p>
          <a:p>
            <a:pPr>
              <a:spcAft>
                <a:spcPts val="700"/>
              </a:spcAft>
              <a:defRPr sz="1600">
                <a:solidFill>
                  <a:srgbClr val="1E1E1E"/>
                </a:solidFill>
              </a:defRPr>
            </a:pPr>
            <a:r>
              <a:t>• Patient Management</a:t>
            </a:r>
          </a:p>
          <a:p>
            <a:pPr>
              <a:spcAft>
                <a:spcPts val="700"/>
              </a:spcAft>
              <a:defRPr sz="1600">
                <a:solidFill>
                  <a:srgbClr val="1E1E1E"/>
                </a:solidFill>
              </a:defRPr>
            </a:pPr>
            <a:r>
              <a:t>• Doctor Management</a:t>
            </a:r>
          </a:p>
          <a:p>
            <a:pPr>
              <a:spcAft>
                <a:spcPts val="700"/>
              </a:spcAft>
              <a:defRPr sz="1600">
                <a:solidFill>
                  <a:srgbClr val="1E1E1E"/>
                </a:solidFill>
              </a:defRPr>
            </a:pPr>
            <a:r>
              <a:t>• Doctor Availability</a:t>
            </a:r>
          </a:p>
          <a:p>
            <a:pPr>
              <a:spcAft>
                <a:spcPts val="700"/>
              </a:spcAft>
              <a:defRPr sz="1600">
                <a:solidFill>
                  <a:srgbClr val="1E1E1E"/>
                </a:solidFill>
              </a:defRPr>
            </a:pPr>
            <a:r>
              <a:t>• Appointment Management</a:t>
            </a:r>
          </a:p>
          <a:p>
            <a:pPr>
              <a:spcAft>
                <a:spcPts val="700"/>
              </a:spcAft>
              <a:defRPr sz="1600">
                <a:solidFill>
                  <a:srgbClr val="1E1E1E"/>
                </a:solidFill>
              </a:defRPr>
            </a:pPr>
            <a:r>
              <a:t>• Holiday Management</a:t>
            </a:r>
          </a:p>
          <a:p>
            <a:pPr>
              <a:spcAft>
                <a:spcPts val="700"/>
              </a:spcAft>
              <a:defRPr sz="1600">
                <a:solidFill>
                  <a:srgbClr val="1E1E1E"/>
                </a:solidFill>
              </a:defRPr>
            </a:pPr>
            <a:r>
              <a:t>• Payment Management</a:t>
            </a:r>
          </a:p>
        </p:txBody>
      </p:sp>
      <p:sp>
        <p:nvSpPr>
          <p:cNvPr id="12" name="TextBox 11"/>
          <p:cNvSpPr txBox="1"/>
          <p:nvPr/>
        </p:nvSpPr>
        <p:spPr>
          <a:xfrm>
            <a:off x="7726679" y="1691640"/>
            <a:ext cx="3337560" cy="457200"/>
          </a:xfrm>
          <a:prstGeom prst="rect">
            <a:avLst/>
          </a:prstGeom>
          <a:noFill/>
        </p:spPr>
        <p:txBody>
          <a:bodyPr wrap="none">
            <a:spAutoFit/>
          </a:bodyPr>
          <a:lstStyle/>
          <a:p>
            <a:pPr>
              <a:defRPr sz="2000" b="1">
                <a:solidFill>
                  <a:srgbClr val="0070C0"/>
                </a:solidFill>
              </a:defRPr>
            </a:pPr>
            <a:r>
              <a:t>BACKEND &amp; DATABASE</a:t>
            </a:r>
          </a:p>
        </p:txBody>
      </p:sp>
      <p:sp>
        <p:nvSpPr>
          <p:cNvPr id="13" name="TextBox 12"/>
          <p:cNvSpPr txBox="1"/>
          <p:nvPr/>
        </p:nvSpPr>
        <p:spPr>
          <a:xfrm>
            <a:off x="7726679" y="2148840"/>
            <a:ext cx="3383280" cy="3566160"/>
          </a:xfrm>
          <a:prstGeom prst="rect">
            <a:avLst/>
          </a:prstGeom>
          <a:noFill/>
        </p:spPr>
        <p:txBody>
          <a:bodyPr wrap="square">
            <a:spAutoFit/>
          </a:bodyPr>
          <a:lstStyle/>
          <a:p>
            <a:pPr>
              <a:spcAft>
                <a:spcPts val="700"/>
              </a:spcAft>
              <a:defRPr sz="1600">
                <a:solidFill>
                  <a:srgbClr val="1E1E1E"/>
                </a:solidFill>
              </a:defRPr>
            </a:pPr>
            <a:r>
              <a:t>• REST API Development</a:t>
            </a:r>
          </a:p>
          <a:p>
            <a:pPr>
              <a:spcAft>
                <a:spcPts val="700"/>
              </a:spcAft>
              <a:defRPr sz="1600">
                <a:solidFill>
                  <a:srgbClr val="1E1E1E"/>
                </a:solidFill>
              </a:defRPr>
            </a:pPr>
            <a:r>
              <a:t>• JWT Authentication &amp; Authorization</a:t>
            </a:r>
          </a:p>
          <a:p>
            <a:pPr>
              <a:spcAft>
                <a:spcPts val="700"/>
              </a:spcAft>
              <a:defRPr sz="1600">
                <a:solidFill>
                  <a:srgbClr val="1E1E1E"/>
                </a:solidFill>
              </a:defRPr>
            </a:pPr>
            <a:r>
              <a:t>• Appointment Validation</a:t>
            </a:r>
          </a:p>
          <a:p>
            <a:pPr>
              <a:spcAft>
                <a:spcPts val="700"/>
              </a:spcAft>
              <a:defRPr sz="1600">
                <a:solidFill>
                  <a:srgbClr val="1E1E1E"/>
                </a:solidFill>
              </a:defRPr>
            </a:pPr>
            <a:r>
              <a:t>• Notification Management</a:t>
            </a:r>
          </a:p>
          <a:p>
            <a:pPr>
              <a:spcAft>
                <a:spcPts val="700"/>
              </a:spcAft>
              <a:defRPr sz="1600">
                <a:solidFill>
                  <a:srgbClr val="1E1E1E"/>
                </a:solidFill>
              </a:defRPr>
            </a:pPr>
            <a:r>
              <a:t>• Payment &amp; Receipt Processing</a:t>
            </a:r>
          </a:p>
          <a:p>
            <a:pPr>
              <a:spcAft>
                <a:spcPts val="700"/>
              </a:spcAft>
              <a:defRPr sz="1600">
                <a:solidFill>
                  <a:srgbClr val="1E1E1E"/>
                </a:solidFill>
              </a:defRPr>
            </a:pPr>
            <a:r>
              <a:t>• MySQL Database Management</a:t>
            </a:r>
          </a:p>
          <a:p>
            <a:pPr>
              <a:spcAft>
                <a:spcPts val="700"/>
              </a:spcAft>
              <a:defRPr sz="1600">
                <a:solidFill>
                  <a:srgbClr val="1E1E1E"/>
                </a:solidFill>
              </a:defRPr>
            </a:pPr>
            <a:r>
              <a:t>• Database Operations</a:t>
            </a:r>
          </a:p>
        </p:txBody>
      </p:sp>
    </p:spTree>
    <p:extLst>
      <p:ext uri="{BB962C8B-B14F-4D97-AF65-F5344CB8AC3E}">
        <p14:creationId xmlns:p14="http://schemas.microsoft.com/office/powerpoint/2010/main" val="10630771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80D793-788A-0BBE-1A25-0D6B7B4B43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67695C-2E9D-0BEB-6476-FC1A6852DA62}"/>
              </a:ext>
            </a:extLst>
          </p:cNvPr>
          <p:cNvSpPr>
            <a:spLocks noGrp="1"/>
          </p:cNvSpPr>
          <p:nvPr>
            <p:ph type="title"/>
          </p:nvPr>
        </p:nvSpPr>
        <p:spPr/>
        <p:txBody>
          <a:bodyPr>
            <a:normAutofit/>
          </a:bodyPr>
          <a:lstStyle/>
          <a:p>
            <a:pPr algn="ctr"/>
            <a:r>
              <a:rPr lang="en-US" sz="3200" b="1" dirty="0">
                <a:solidFill>
                  <a:srgbClr val="0070C0"/>
                </a:solidFill>
                <a:latin typeface="+mn-lt"/>
              </a:rPr>
              <a:t>AUTHENTICATION &amp; SECURITY</a:t>
            </a:r>
            <a:br>
              <a:rPr lang="en-US" sz="3200" b="1" dirty="0">
                <a:latin typeface="+mn-lt"/>
              </a:rPr>
            </a:br>
            <a:endParaRPr lang="en-IN" sz="3200" b="1" dirty="0">
              <a:solidFill>
                <a:srgbClr val="0070C0"/>
              </a:solidFill>
              <a:latin typeface="+mn-lt"/>
            </a:endParaRPr>
          </a:p>
        </p:txBody>
      </p:sp>
      <p:sp>
        <p:nvSpPr>
          <p:cNvPr id="5" name="Footer Placeholder 4">
            <a:extLst>
              <a:ext uri="{FF2B5EF4-FFF2-40B4-BE49-F238E27FC236}">
                <a16:creationId xmlns:a16="http://schemas.microsoft.com/office/drawing/2014/main" id="{2D729F55-DE57-8408-42F6-4E0FBAB3050A}"/>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33623B38-760E-3758-6704-655E2B69F64B}"/>
              </a:ext>
            </a:extLst>
          </p:cNvPr>
          <p:cNvSpPr>
            <a:spLocks noGrp="1"/>
          </p:cNvSpPr>
          <p:nvPr>
            <p:ph type="sldNum" sz="quarter" idx="12"/>
          </p:nvPr>
        </p:nvSpPr>
        <p:spPr/>
        <p:txBody>
          <a:bodyPr/>
          <a:lstStyle/>
          <a:p>
            <a:fld id="{B961B71F-4B40-8942-BB88-E0F5C0B46E10}" type="slidenum">
              <a:rPr lang="en-US" smtClean="0"/>
              <a:t>10</a:t>
            </a:fld>
            <a:endParaRPr lang="en-US"/>
          </a:p>
        </p:txBody>
      </p:sp>
      <p:graphicFrame>
        <p:nvGraphicFramePr>
          <p:cNvPr id="3" name="Content Placeholder 2">
            <a:extLst>
              <a:ext uri="{FF2B5EF4-FFF2-40B4-BE49-F238E27FC236}">
                <a16:creationId xmlns:a16="http://schemas.microsoft.com/office/drawing/2014/main" id="{2B0AC9CD-F340-471A-9397-6F490B8B8D61}"/>
              </a:ext>
            </a:extLst>
          </p:cNvPr>
          <p:cNvGraphicFramePr>
            <a:graphicFrameLocks noGrp="1"/>
          </p:cNvGraphicFramePr>
          <p:nvPr>
            <p:ph idx="1"/>
          </p:nvPr>
        </p:nvGraphicFramePr>
        <p:xfrm>
          <a:off x="838200" y="2172494"/>
          <a:ext cx="10515600" cy="3657600"/>
        </p:xfrm>
        <a:graphic>
          <a:graphicData uri="http://schemas.openxmlformats.org/drawingml/2006/table">
            <a:tbl>
              <a:tblPr/>
              <a:tblGrid>
                <a:gridCol w="5257800">
                  <a:extLst>
                    <a:ext uri="{9D8B030D-6E8A-4147-A177-3AD203B41FA5}">
                      <a16:colId xmlns:a16="http://schemas.microsoft.com/office/drawing/2014/main" val="2853031738"/>
                    </a:ext>
                  </a:extLst>
                </a:gridCol>
                <a:gridCol w="5257800">
                  <a:extLst>
                    <a:ext uri="{9D8B030D-6E8A-4147-A177-3AD203B41FA5}">
                      <a16:colId xmlns:a16="http://schemas.microsoft.com/office/drawing/2014/main" val="2907802638"/>
                    </a:ext>
                  </a:extLst>
                </a:gridCol>
              </a:tblGrid>
              <a:tr h="0">
                <a:tc>
                  <a:txBody>
                    <a:bodyPr/>
                    <a:lstStyle/>
                    <a:p>
                      <a:r>
                        <a:rPr lang="en-IN"/>
                        <a:t>Component</a:t>
                      </a:r>
                    </a:p>
                  </a:txBody>
                  <a:tcPr anchor="ctr">
                    <a:lnL>
                      <a:noFill/>
                    </a:lnL>
                    <a:lnR>
                      <a:noFill/>
                    </a:lnR>
                    <a:lnT>
                      <a:noFill/>
                    </a:lnT>
                    <a:lnB>
                      <a:noFill/>
                    </a:lnB>
                  </a:tcPr>
                </a:tc>
                <a:tc>
                  <a:txBody>
                    <a:bodyPr/>
                    <a:lstStyle/>
                    <a:p>
                      <a:r>
                        <a:rPr lang="en-IN"/>
                        <a:t>Technology</a:t>
                      </a:r>
                    </a:p>
                  </a:txBody>
                  <a:tcPr anchor="ctr">
                    <a:lnL>
                      <a:noFill/>
                    </a:lnL>
                    <a:lnR>
                      <a:noFill/>
                    </a:lnR>
                    <a:lnT>
                      <a:noFill/>
                    </a:lnT>
                    <a:lnB>
                      <a:noFill/>
                    </a:lnB>
                  </a:tcPr>
                </a:tc>
                <a:extLst>
                  <a:ext uri="{0D108BD9-81ED-4DB2-BD59-A6C34878D82A}">
                    <a16:rowId xmlns:a16="http://schemas.microsoft.com/office/drawing/2014/main" val="541195960"/>
                  </a:ext>
                </a:extLst>
              </a:tr>
              <a:tr h="0">
                <a:tc>
                  <a:txBody>
                    <a:bodyPr/>
                    <a:lstStyle/>
                    <a:p>
                      <a:r>
                        <a:rPr lang="en-IN"/>
                        <a:t>Frontend</a:t>
                      </a:r>
                    </a:p>
                  </a:txBody>
                  <a:tcPr anchor="ctr">
                    <a:lnL>
                      <a:noFill/>
                    </a:lnL>
                    <a:lnR>
                      <a:noFill/>
                    </a:lnR>
                    <a:lnT>
                      <a:noFill/>
                    </a:lnT>
                    <a:lnB>
                      <a:noFill/>
                    </a:lnB>
                  </a:tcPr>
                </a:tc>
                <a:tc>
                  <a:txBody>
                    <a:bodyPr/>
                    <a:lstStyle/>
                    <a:p>
                      <a:r>
                        <a:rPr lang="en-IN"/>
                        <a:t>React, HTML5, CSS3, JavaScript</a:t>
                      </a:r>
                    </a:p>
                  </a:txBody>
                  <a:tcPr anchor="ctr">
                    <a:lnL>
                      <a:noFill/>
                    </a:lnL>
                    <a:lnR>
                      <a:noFill/>
                    </a:lnR>
                    <a:lnT>
                      <a:noFill/>
                    </a:lnT>
                    <a:lnB>
                      <a:noFill/>
                    </a:lnB>
                  </a:tcPr>
                </a:tc>
                <a:extLst>
                  <a:ext uri="{0D108BD9-81ED-4DB2-BD59-A6C34878D82A}">
                    <a16:rowId xmlns:a16="http://schemas.microsoft.com/office/drawing/2014/main" val="627838994"/>
                  </a:ext>
                </a:extLst>
              </a:tr>
              <a:tr h="0">
                <a:tc>
                  <a:txBody>
                    <a:bodyPr/>
                    <a:lstStyle/>
                    <a:p>
                      <a:r>
                        <a:rPr lang="en-IN"/>
                        <a:t>Backend</a:t>
                      </a:r>
                    </a:p>
                  </a:txBody>
                  <a:tcPr anchor="ctr">
                    <a:lnL>
                      <a:noFill/>
                    </a:lnL>
                    <a:lnR>
                      <a:noFill/>
                    </a:lnR>
                    <a:lnT>
                      <a:noFill/>
                    </a:lnT>
                    <a:lnB>
                      <a:noFill/>
                    </a:lnB>
                  </a:tcPr>
                </a:tc>
                <a:tc>
                  <a:txBody>
                    <a:bodyPr/>
                    <a:lstStyle/>
                    <a:p>
                      <a:r>
                        <a:rPr lang="en-IN"/>
                        <a:t>Python, FastAPI</a:t>
                      </a:r>
                    </a:p>
                  </a:txBody>
                  <a:tcPr anchor="ctr">
                    <a:lnL>
                      <a:noFill/>
                    </a:lnL>
                    <a:lnR>
                      <a:noFill/>
                    </a:lnR>
                    <a:lnT>
                      <a:noFill/>
                    </a:lnT>
                    <a:lnB>
                      <a:noFill/>
                    </a:lnB>
                  </a:tcPr>
                </a:tc>
                <a:extLst>
                  <a:ext uri="{0D108BD9-81ED-4DB2-BD59-A6C34878D82A}">
                    <a16:rowId xmlns:a16="http://schemas.microsoft.com/office/drawing/2014/main" val="2930757214"/>
                  </a:ext>
                </a:extLst>
              </a:tr>
              <a:tr h="0">
                <a:tc>
                  <a:txBody>
                    <a:bodyPr/>
                    <a:lstStyle/>
                    <a:p>
                      <a:r>
                        <a:rPr lang="en-IN"/>
                        <a:t>Database</a:t>
                      </a:r>
                    </a:p>
                  </a:txBody>
                  <a:tcPr anchor="ctr">
                    <a:lnL>
                      <a:noFill/>
                    </a:lnL>
                    <a:lnR>
                      <a:noFill/>
                    </a:lnR>
                    <a:lnT>
                      <a:noFill/>
                    </a:lnT>
                    <a:lnB>
                      <a:noFill/>
                    </a:lnB>
                  </a:tcPr>
                </a:tc>
                <a:tc>
                  <a:txBody>
                    <a:bodyPr/>
                    <a:lstStyle/>
                    <a:p>
                      <a:r>
                        <a:rPr lang="en-IN"/>
                        <a:t>MySQL</a:t>
                      </a:r>
                    </a:p>
                  </a:txBody>
                  <a:tcPr anchor="ctr">
                    <a:lnL>
                      <a:noFill/>
                    </a:lnL>
                    <a:lnR>
                      <a:noFill/>
                    </a:lnR>
                    <a:lnT>
                      <a:noFill/>
                    </a:lnT>
                    <a:lnB>
                      <a:noFill/>
                    </a:lnB>
                  </a:tcPr>
                </a:tc>
                <a:extLst>
                  <a:ext uri="{0D108BD9-81ED-4DB2-BD59-A6C34878D82A}">
                    <a16:rowId xmlns:a16="http://schemas.microsoft.com/office/drawing/2014/main" val="4178761657"/>
                  </a:ext>
                </a:extLst>
              </a:tr>
              <a:tr h="0">
                <a:tc>
                  <a:txBody>
                    <a:bodyPr/>
                    <a:lstStyle/>
                    <a:p>
                      <a:r>
                        <a:rPr lang="en-IN"/>
                        <a:t>ORM</a:t>
                      </a:r>
                    </a:p>
                  </a:txBody>
                  <a:tcPr anchor="ctr">
                    <a:lnL>
                      <a:noFill/>
                    </a:lnL>
                    <a:lnR>
                      <a:noFill/>
                    </a:lnR>
                    <a:lnT>
                      <a:noFill/>
                    </a:lnT>
                    <a:lnB>
                      <a:noFill/>
                    </a:lnB>
                  </a:tcPr>
                </a:tc>
                <a:tc>
                  <a:txBody>
                    <a:bodyPr/>
                    <a:lstStyle/>
                    <a:p>
                      <a:r>
                        <a:rPr lang="en-IN"/>
                        <a:t>SQLAlchemy</a:t>
                      </a:r>
                    </a:p>
                  </a:txBody>
                  <a:tcPr anchor="ctr">
                    <a:lnL>
                      <a:noFill/>
                    </a:lnL>
                    <a:lnR>
                      <a:noFill/>
                    </a:lnR>
                    <a:lnT>
                      <a:noFill/>
                    </a:lnT>
                    <a:lnB>
                      <a:noFill/>
                    </a:lnB>
                  </a:tcPr>
                </a:tc>
                <a:extLst>
                  <a:ext uri="{0D108BD9-81ED-4DB2-BD59-A6C34878D82A}">
                    <a16:rowId xmlns:a16="http://schemas.microsoft.com/office/drawing/2014/main" val="2859495835"/>
                  </a:ext>
                </a:extLst>
              </a:tr>
              <a:tr h="0">
                <a:tc>
                  <a:txBody>
                    <a:bodyPr/>
                    <a:lstStyle/>
                    <a:p>
                      <a:r>
                        <a:rPr lang="en-IN"/>
                        <a:t>Database Driver</a:t>
                      </a:r>
                    </a:p>
                  </a:txBody>
                  <a:tcPr anchor="ctr">
                    <a:lnL>
                      <a:noFill/>
                    </a:lnL>
                    <a:lnR>
                      <a:noFill/>
                    </a:lnR>
                    <a:lnT>
                      <a:noFill/>
                    </a:lnT>
                    <a:lnB>
                      <a:noFill/>
                    </a:lnB>
                  </a:tcPr>
                </a:tc>
                <a:tc>
                  <a:txBody>
                    <a:bodyPr/>
                    <a:lstStyle/>
                    <a:p>
                      <a:r>
                        <a:rPr lang="en-IN"/>
                        <a:t>PyMySQL</a:t>
                      </a:r>
                    </a:p>
                  </a:txBody>
                  <a:tcPr anchor="ctr">
                    <a:lnL>
                      <a:noFill/>
                    </a:lnL>
                    <a:lnR>
                      <a:noFill/>
                    </a:lnR>
                    <a:lnT>
                      <a:noFill/>
                    </a:lnT>
                    <a:lnB>
                      <a:noFill/>
                    </a:lnB>
                  </a:tcPr>
                </a:tc>
                <a:extLst>
                  <a:ext uri="{0D108BD9-81ED-4DB2-BD59-A6C34878D82A}">
                    <a16:rowId xmlns:a16="http://schemas.microsoft.com/office/drawing/2014/main" val="2218354220"/>
                  </a:ext>
                </a:extLst>
              </a:tr>
              <a:tr h="0">
                <a:tc>
                  <a:txBody>
                    <a:bodyPr/>
                    <a:lstStyle/>
                    <a:p>
                      <a:r>
                        <a:rPr lang="en-IN"/>
                        <a:t>Authentication</a:t>
                      </a:r>
                    </a:p>
                  </a:txBody>
                  <a:tcPr anchor="ctr">
                    <a:lnL>
                      <a:noFill/>
                    </a:lnL>
                    <a:lnR>
                      <a:noFill/>
                    </a:lnR>
                    <a:lnT>
                      <a:noFill/>
                    </a:lnT>
                    <a:lnB>
                      <a:noFill/>
                    </a:lnB>
                  </a:tcPr>
                </a:tc>
                <a:tc>
                  <a:txBody>
                    <a:bodyPr/>
                    <a:lstStyle/>
                    <a:p>
                      <a:r>
                        <a:rPr lang="en-IN"/>
                        <a:t>JWT</a:t>
                      </a:r>
                    </a:p>
                  </a:txBody>
                  <a:tcPr anchor="ctr">
                    <a:lnL>
                      <a:noFill/>
                    </a:lnL>
                    <a:lnR>
                      <a:noFill/>
                    </a:lnR>
                    <a:lnT>
                      <a:noFill/>
                    </a:lnT>
                    <a:lnB>
                      <a:noFill/>
                    </a:lnB>
                  </a:tcPr>
                </a:tc>
                <a:extLst>
                  <a:ext uri="{0D108BD9-81ED-4DB2-BD59-A6C34878D82A}">
                    <a16:rowId xmlns:a16="http://schemas.microsoft.com/office/drawing/2014/main" val="2865217396"/>
                  </a:ext>
                </a:extLst>
              </a:tr>
              <a:tr h="0">
                <a:tc>
                  <a:txBody>
                    <a:bodyPr/>
                    <a:lstStyle/>
                    <a:p>
                      <a:r>
                        <a:rPr lang="en-IN"/>
                        <a:t>Password Security</a:t>
                      </a:r>
                    </a:p>
                  </a:txBody>
                  <a:tcPr anchor="ctr">
                    <a:lnL>
                      <a:noFill/>
                    </a:lnL>
                    <a:lnR>
                      <a:noFill/>
                    </a:lnR>
                    <a:lnT>
                      <a:noFill/>
                    </a:lnT>
                    <a:lnB>
                      <a:noFill/>
                    </a:lnB>
                  </a:tcPr>
                </a:tc>
                <a:tc>
                  <a:txBody>
                    <a:bodyPr/>
                    <a:lstStyle/>
                    <a:p>
                      <a:r>
                        <a:rPr lang="en-IN"/>
                        <a:t>bcrypt / Passlib</a:t>
                      </a:r>
                    </a:p>
                  </a:txBody>
                  <a:tcPr anchor="ctr">
                    <a:lnL>
                      <a:noFill/>
                    </a:lnL>
                    <a:lnR>
                      <a:noFill/>
                    </a:lnR>
                    <a:lnT>
                      <a:noFill/>
                    </a:lnT>
                    <a:lnB>
                      <a:noFill/>
                    </a:lnB>
                  </a:tcPr>
                </a:tc>
                <a:extLst>
                  <a:ext uri="{0D108BD9-81ED-4DB2-BD59-A6C34878D82A}">
                    <a16:rowId xmlns:a16="http://schemas.microsoft.com/office/drawing/2014/main" val="2320501049"/>
                  </a:ext>
                </a:extLst>
              </a:tr>
              <a:tr h="0">
                <a:tc>
                  <a:txBody>
                    <a:bodyPr/>
                    <a:lstStyle/>
                    <a:p>
                      <a:r>
                        <a:rPr lang="en-IN"/>
                        <a:t>Server</a:t>
                      </a:r>
                    </a:p>
                  </a:txBody>
                  <a:tcPr anchor="ctr">
                    <a:lnL>
                      <a:noFill/>
                    </a:lnL>
                    <a:lnR>
                      <a:noFill/>
                    </a:lnR>
                    <a:lnT>
                      <a:noFill/>
                    </a:lnT>
                    <a:lnB>
                      <a:noFill/>
                    </a:lnB>
                  </a:tcPr>
                </a:tc>
                <a:tc>
                  <a:txBody>
                    <a:bodyPr/>
                    <a:lstStyle/>
                    <a:p>
                      <a:r>
                        <a:rPr lang="en-IN"/>
                        <a:t>Uvicorn</a:t>
                      </a:r>
                    </a:p>
                  </a:txBody>
                  <a:tcPr anchor="ctr">
                    <a:lnL>
                      <a:noFill/>
                    </a:lnL>
                    <a:lnR>
                      <a:noFill/>
                    </a:lnR>
                    <a:lnT>
                      <a:noFill/>
                    </a:lnT>
                    <a:lnB>
                      <a:noFill/>
                    </a:lnB>
                  </a:tcPr>
                </a:tc>
                <a:extLst>
                  <a:ext uri="{0D108BD9-81ED-4DB2-BD59-A6C34878D82A}">
                    <a16:rowId xmlns:a16="http://schemas.microsoft.com/office/drawing/2014/main" val="319768739"/>
                  </a:ext>
                </a:extLst>
              </a:tr>
              <a:tr h="0">
                <a:tc>
                  <a:txBody>
                    <a:bodyPr/>
                    <a:lstStyle/>
                    <a:p>
                      <a:r>
                        <a:rPr lang="en-IN"/>
                        <a:t>Development</a:t>
                      </a:r>
                    </a:p>
                  </a:txBody>
                  <a:tcPr anchor="ctr">
                    <a:lnL>
                      <a:noFill/>
                    </a:lnL>
                    <a:lnR>
                      <a:noFill/>
                    </a:lnR>
                    <a:lnT>
                      <a:noFill/>
                    </a:lnT>
                    <a:lnB>
                      <a:noFill/>
                    </a:lnB>
                  </a:tcPr>
                </a:tc>
                <a:tc>
                  <a:txBody>
                    <a:bodyPr/>
                    <a:lstStyle/>
                    <a:p>
                      <a:r>
                        <a:rPr lang="en-IN" dirty="0"/>
                        <a:t>VS Code / PyCharm</a:t>
                      </a:r>
                    </a:p>
                  </a:txBody>
                  <a:tcPr anchor="ctr">
                    <a:lnL>
                      <a:noFill/>
                    </a:lnL>
                    <a:lnR>
                      <a:noFill/>
                    </a:lnR>
                    <a:lnT>
                      <a:noFill/>
                    </a:lnT>
                    <a:lnB>
                      <a:noFill/>
                    </a:lnB>
                  </a:tcPr>
                </a:tc>
                <a:extLst>
                  <a:ext uri="{0D108BD9-81ED-4DB2-BD59-A6C34878D82A}">
                    <a16:rowId xmlns:a16="http://schemas.microsoft.com/office/drawing/2014/main" val="934939011"/>
                  </a:ext>
                </a:extLst>
              </a:tr>
            </a:tbl>
          </a:graphicData>
        </a:graphic>
      </p:graphicFrame>
      <p:sp>
        <p:nvSpPr>
          <p:cNvPr id="7" name="Rectangle 6"/>
          <p:cNvSpPr/>
          <p:nvPr/>
        </p:nvSpPr>
        <p:spPr>
          <a:xfrm>
            <a:off x="457200" y="1508760"/>
            <a:ext cx="11155680" cy="4389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14400" y="1691640"/>
            <a:ext cx="7543800" cy="2893100"/>
          </a:xfrm>
          <a:prstGeom prst="rect">
            <a:avLst/>
          </a:prstGeom>
          <a:noFill/>
        </p:spPr>
        <p:txBody>
          <a:bodyPr wrap="square">
            <a:spAutoFit/>
          </a:bodyPr>
          <a:lstStyle/>
          <a:p>
            <a:pPr>
              <a:spcAft>
                <a:spcPts val="1000"/>
              </a:spcAft>
              <a:defRPr sz="1900">
                <a:solidFill>
                  <a:srgbClr val="1E1E1E"/>
                </a:solidFill>
              </a:defRPr>
            </a:pPr>
            <a:r>
              <a:rPr lang="en-US" dirty="0"/>
              <a:t>• Patient and administrator authentication are implemented separately.</a:t>
            </a:r>
          </a:p>
          <a:p>
            <a:pPr>
              <a:spcAft>
                <a:spcPts val="1000"/>
              </a:spcAft>
              <a:defRPr sz="1900">
                <a:solidFill>
                  <a:srgbClr val="1E1E1E"/>
                </a:solidFill>
              </a:defRPr>
            </a:pPr>
            <a:r>
              <a:rPr lang="en-US" dirty="0"/>
              <a:t>• Passwords are hashed using </a:t>
            </a:r>
            <a:r>
              <a:rPr lang="en-US" dirty="0" err="1"/>
              <a:t>Passlib</a:t>
            </a:r>
            <a:r>
              <a:rPr lang="en-US" dirty="0"/>
              <a:t> with </a:t>
            </a:r>
            <a:r>
              <a:rPr lang="en-US" dirty="0" err="1"/>
              <a:t>bcrypt</a:t>
            </a:r>
            <a:r>
              <a:rPr lang="en-US" dirty="0"/>
              <a:t>.</a:t>
            </a:r>
          </a:p>
          <a:p>
            <a:pPr>
              <a:spcAft>
                <a:spcPts val="1000"/>
              </a:spcAft>
              <a:defRPr sz="1900">
                <a:solidFill>
                  <a:srgbClr val="1E1E1E"/>
                </a:solidFill>
              </a:defRPr>
            </a:pPr>
            <a:r>
              <a:rPr lang="en-US" dirty="0"/>
              <a:t>• JWT access tokens are generated after successful authentication.</a:t>
            </a:r>
          </a:p>
          <a:p>
            <a:pPr>
              <a:spcAft>
                <a:spcPts val="1000"/>
              </a:spcAft>
              <a:defRPr sz="1900">
                <a:solidFill>
                  <a:srgbClr val="1E1E1E"/>
                </a:solidFill>
              </a:defRPr>
            </a:pPr>
            <a:r>
              <a:rPr lang="en-US" dirty="0"/>
              <a:t>• Protected APIs use HTTP Bearer authentication.</a:t>
            </a:r>
          </a:p>
          <a:p>
            <a:pPr>
              <a:spcAft>
                <a:spcPts val="1000"/>
              </a:spcAft>
              <a:defRPr sz="1900">
                <a:solidFill>
                  <a:srgbClr val="1E1E1E"/>
                </a:solidFill>
              </a:defRPr>
            </a:pPr>
            <a:r>
              <a:rPr lang="en-US" dirty="0"/>
              <a:t>• Backend dependencies enforce patient or administrator role access.</a:t>
            </a:r>
          </a:p>
          <a:p>
            <a:pPr>
              <a:spcAft>
                <a:spcPts val="1000"/>
              </a:spcAft>
              <a:defRPr sz="1900">
                <a:solidFill>
                  <a:srgbClr val="1E1E1E"/>
                </a:solidFill>
              </a:defRPr>
            </a:pPr>
            <a:r>
              <a:rPr lang="en-US" dirty="0"/>
              <a:t>• Protected admin API access without a token returns HTTP 401.</a:t>
            </a:r>
          </a:p>
          <a:p>
            <a:pPr>
              <a:spcAft>
                <a:spcPts val="1000"/>
              </a:spcAft>
              <a:defRPr sz="1800">
                <a:solidFill>
                  <a:srgbClr val="1E1E1E"/>
                </a:solidFill>
              </a:defRPr>
            </a:pPr>
            <a:endParaRPr dirty="0"/>
          </a:p>
        </p:txBody>
      </p:sp>
      <p:pic>
        <p:nvPicPr>
          <p:cNvPr id="4" name="Picture 3" descr="Protected_Admin_API_Unauthorized.png">
            <a:extLst>
              <a:ext uri="{FF2B5EF4-FFF2-40B4-BE49-F238E27FC236}">
                <a16:creationId xmlns:a16="http://schemas.microsoft.com/office/drawing/2014/main" id="{43091A0F-5472-90E4-FC9D-8FACB31DA65A}"/>
              </a:ext>
            </a:extLst>
          </p:cNvPr>
          <p:cNvPicPr>
            <a:picLocks noChangeAspect="1"/>
          </p:cNvPicPr>
          <p:nvPr/>
        </p:nvPicPr>
        <p:blipFill>
          <a:blip r:embed="rId3"/>
          <a:stretch>
            <a:fillRect/>
          </a:stretch>
        </p:blipFill>
        <p:spPr>
          <a:xfrm>
            <a:off x="8206740" y="2355493"/>
            <a:ext cx="3657600" cy="1508760"/>
          </a:xfrm>
          <a:prstGeom prst="rect">
            <a:avLst/>
          </a:prstGeom>
        </p:spPr>
      </p:pic>
    </p:spTree>
    <p:extLst>
      <p:ext uri="{BB962C8B-B14F-4D97-AF65-F5344CB8AC3E}">
        <p14:creationId xmlns:p14="http://schemas.microsoft.com/office/powerpoint/2010/main" val="10989686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17D20A-8F29-4E0E-3B19-6A90B0E159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22689E-845D-C880-84C2-31486F4D76C1}"/>
              </a:ext>
            </a:extLst>
          </p:cNvPr>
          <p:cNvSpPr>
            <a:spLocks noGrp="1"/>
          </p:cNvSpPr>
          <p:nvPr>
            <p:ph type="title"/>
          </p:nvPr>
        </p:nvSpPr>
        <p:spPr/>
        <p:txBody>
          <a:bodyPr>
            <a:normAutofit/>
          </a:bodyPr>
          <a:lstStyle/>
          <a:p>
            <a:pPr algn="ctr">
              <a:defRPr sz="3200" b="1">
                <a:solidFill>
                  <a:srgbClr val="0070C0"/>
                </a:solidFill>
              </a:defRPr>
            </a:pPr>
            <a:r>
              <a:rPr lang="en-IN" sz="3200" b="1" dirty="0">
                <a:solidFill>
                  <a:srgbClr val="0070C0"/>
                </a:solidFill>
                <a:latin typeface="+mn-lt"/>
                <a:ea typeface="+mn-ea"/>
                <a:cs typeface="+mn-cs"/>
              </a:rPr>
              <a:t>SOFTWARE REQUIREMENTS </a:t>
            </a:r>
          </a:p>
        </p:txBody>
      </p:sp>
      <p:sp>
        <p:nvSpPr>
          <p:cNvPr id="5" name="Footer Placeholder 4">
            <a:extLst>
              <a:ext uri="{FF2B5EF4-FFF2-40B4-BE49-F238E27FC236}">
                <a16:creationId xmlns:a16="http://schemas.microsoft.com/office/drawing/2014/main" id="{9D3C503A-381F-B5E0-7BF5-21566DEDB97E}"/>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243B2EA6-5D7A-3F5B-CC4B-B3ED1969BA22}"/>
              </a:ext>
            </a:extLst>
          </p:cNvPr>
          <p:cNvSpPr>
            <a:spLocks noGrp="1"/>
          </p:cNvSpPr>
          <p:nvPr>
            <p:ph type="sldNum" sz="quarter" idx="12"/>
          </p:nvPr>
        </p:nvSpPr>
        <p:spPr/>
        <p:txBody>
          <a:bodyPr/>
          <a:lstStyle/>
          <a:p>
            <a:fld id="{B961B71F-4B40-8942-BB88-E0F5C0B46E10}" type="slidenum">
              <a:rPr lang="en-US" smtClean="0"/>
              <a:t>11</a:t>
            </a:fld>
            <a:endParaRPr lang="en-US"/>
          </a:p>
        </p:txBody>
      </p:sp>
      <p:graphicFrame>
        <p:nvGraphicFramePr>
          <p:cNvPr id="3" name="Content Placeholder 2">
            <a:extLst>
              <a:ext uri="{FF2B5EF4-FFF2-40B4-BE49-F238E27FC236}">
                <a16:creationId xmlns:a16="http://schemas.microsoft.com/office/drawing/2014/main" id="{2E228218-7D15-20C9-4A04-5B0B408ADD5E}"/>
              </a:ext>
            </a:extLst>
          </p:cNvPr>
          <p:cNvGraphicFramePr>
            <a:graphicFrameLocks noGrp="1"/>
          </p:cNvGraphicFramePr>
          <p:nvPr>
            <p:ph idx="1"/>
          </p:nvPr>
        </p:nvGraphicFramePr>
        <p:xfrm>
          <a:off x="838200" y="2172494"/>
          <a:ext cx="10515600" cy="3657600"/>
        </p:xfrm>
        <a:graphic>
          <a:graphicData uri="http://schemas.openxmlformats.org/drawingml/2006/table">
            <a:tbl>
              <a:tblPr/>
              <a:tblGrid>
                <a:gridCol w="5257800">
                  <a:extLst>
                    <a:ext uri="{9D8B030D-6E8A-4147-A177-3AD203B41FA5}">
                      <a16:colId xmlns:a16="http://schemas.microsoft.com/office/drawing/2014/main" val="2853031738"/>
                    </a:ext>
                  </a:extLst>
                </a:gridCol>
                <a:gridCol w="5257800">
                  <a:extLst>
                    <a:ext uri="{9D8B030D-6E8A-4147-A177-3AD203B41FA5}">
                      <a16:colId xmlns:a16="http://schemas.microsoft.com/office/drawing/2014/main" val="2907802638"/>
                    </a:ext>
                  </a:extLst>
                </a:gridCol>
              </a:tblGrid>
              <a:tr h="0">
                <a:tc>
                  <a:txBody>
                    <a:bodyPr/>
                    <a:lstStyle/>
                    <a:p>
                      <a:r>
                        <a:rPr lang="en-IN"/>
                        <a:t>Component</a:t>
                      </a:r>
                    </a:p>
                  </a:txBody>
                  <a:tcPr anchor="ctr">
                    <a:lnL>
                      <a:noFill/>
                    </a:lnL>
                    <a:lnR>
                      <a:noFill/>
                    </a:lnR>
                    <a:lnT>
                      <a:noFill/>
                    </a:lnT>
                    <a:lnB>
                      <a:noFill/>
                    </a:lnB>
                  </a:tcPr>
                </a:tc>
                <a:tc>
                  <a:txBody>
                    <a:bodyPr/>
                    <a:lstStyle/>
                    <a:p>
                      <a:r>
                        <a:rPr lang="en-IN"/>
                        <a:t>Technology</a:t>
                      </a:r>
                    </a:p>
                  </a:txBody>
                  <a:tcPr anchor="ctr">
                    <a:lnL>
                      <a:noFill/>
                    </a:lnL>
                    <a:lnR>
                      <a:noFill/>
                    </a:lnR>
                    <a:lnT>
                      <a:noFill/>
                    </a:lnT>
                    <a:lnB>
                      <a:noFill/>
                    </a:lnB>
                  </a:tcPr>
                </a:tc>
                <a:extLst>
                  <a:ext uri="{0D108BD9-81ED-4DB2-BD59-A6C34878D82A}">
                    <a16:rowId xmlns:a16="http://schemas.microsoft.com/office/drawing/2014/main" val="541195960"/>
                  </a:ext>
                </a:extLst>
              </a:tr>
              <a:tr h="0">
                <a:tc>
                  <a:txBody>
                    <a:bodyPr/>
                    <a:lstStyle/>
                    <a:p>
                      <a:r>
                        <a:rPr lang="en-IN"/>
                        <a:t>Frontend</a:t>
                      </a:r>
                    </a:p>
                  </a:txBody>
                  <a:tcPr anchor="ctr">
                    <a:lnL>
                      <a:noFill/>
                    </a:lnL>
                    <a:lnR>
                      <a:noFill/>
                    </a:lnR>
                    <a:lnT>
                      <a:noFill/>
                    </a:lnT>
                    <a:lnB>
                      <a:noFill/>
                    </a:lnB>
                  </a:tcPr>
                </a:tc>
                <a:tc>
                  <a:txBody>
                    <a:bodyPr/>
                    <a:lstStyle/>
                    <a:p>
                      <a:r>
                        <a:rPr lang="en-IN"/>
                        <a:t>React, HTML5, CSS3, JavaScript</a:t>
                      </a:r>
                    </a:p>
                  </a:txBody>
                  <a:tcPr anchor="ctr">
                    <a:lnL>
                      <a:noFill/>
                    </a:lnL>
                    <a:lnR>
                      <a:noFill/>
                    </a:lnR>
                    <a:lnT>
                      <a:noFill/>
                    </a:lnT>
                    <a:lnB>
                      <a:noFill/>
                    </a:lnB>
                  </a:tcPr>
                </a:tc>
                <a:extLst>
                  <a:ext uri="{0D108BD9-81ED-4DB2-BD59-A6C34878D82A}">
                    <a16:rowId xmlns:a16="http://schemas.microsoft.com/office/drawing/2014/main" val="627838994"/>
                  </a:ext>
                </a:extLst>
              </a:tr>
              <a:tr h="0">
                <a:tc>
                  <a:txBody>
                    <a:bodyPr/>
                    <a:lstStyle/>
                    <a:p>
                      <a:r>
                        <a:rPr lang="en-IN"/>
                        <a:t>Backend</a:t>
                      </a:r>
                    </a:p>
                  </a:txBody>
                  <a:tcPr anchor="ctr">
                    <a:lnL>
                      <a:noFill/>
                    </a:lnL>
                    <a:lnR>
                      <a:noFill/>
                    </a:lnR>
                    <a:lnT>
                      <a:noFill/>
                    </a:lnT>
                    <a:lnB>
                      <a:noFill/>
                    </a:lnB>
                  </a:tcPr>
                </a:tc>
                <a:tc>
                  <a:txBody>
                    <a:bodyPr/>
                    <a:lstStyle/>
                    <a:p>
                      <a:r>
                        <a:rPr lang="en-IN"/>
                        <a:t>Python, FastAPI</a:t>
                      </a:r>
                    </a:p>
                  </a:txBody>
                  <a:tcPr anchor="ctr">
                    <a:lnL>
                      <a:noFill/>
                    </a:lnL>
                    <a:lnR>
                      <a:noFill/>
                    </a:lnR>
                    <a:lnT>
                      <a:noFill/>
                    </a:lnT>
                    <a:lnB>
                      <a:noFill/>
                    </a:lnB>
                  </a:tcPr>
                </a:tc>
                <a:extLst>
                  <a:ext uri="{0D108BD9-81ED-4DB2-BD59-A6C34878D82A}">
                    <a16:rowId xmlns:a16="http://schemas.microsoft.com/office/drawing/2014/main" val="2930757214"/>
                  </a:ext>
                </a:extLst>
              </a:tr>
              <a:tr h="0">
                <a:tc>
                  <a:txBody>
                    <a:bodyPr/>
                    <a:lstStyle/>
                    <a:p>
                      <a:r>
                        <a:rPr lang="en-IN"/>
                        <a:t>Database</a:t>
                      </a:r>
                    </a:p>
                  </a:txBody>
                  <a:tcPr anchor="ctr">
                    <a:lnL>
                      <a:noFill/>
                    </a:lnL>
                    <a:lnR>
                      <a:noFill/>
                    </a:lnR>
                    <a:lnT>
                      <a:noFill/>
                    </a:lnT>
                    <a:lnB>
                      <a:noFill/>
                    </a:lnB>
                  </a:tcPr>
                </a:tc>
                <a:tc>
                  <a:txBody>
                    <a:bodyPr/>
                    <a:lstStyle/>
                    <a:p>
                      <a:r>
                        <a:rPr lang="en-IN"/>
                        <a:t>MySQL</a:t>
                      </a:r>
                    </a:p>
                  </a:txBody>
                  <a:tcPr anchor="ctr">
                    <a:lnL>
                      <a:noFill/>
                    </a:lnL>
                    <a:lnR>
                      <a:noFill/>
                    </a:lnR>
                    <a:lnT>
                      <a:noFill/>
                    </a:lnT>
                    <a:lnB>
                      <a:noFill/>
                    </a:lnB>
                  </a:tcPr>
                </a:tc>
                <a:extLst>
                  <a:ext uri="{0D108BD9-81ED-4DB2-BD59-A6C34878D82A}">
                    <a16:rowId xmlns:a16="http://schemas.microsoft.com/office/drawing/2014/main" val="4178761657"/>
                  </a:ext>
                </a:extLst>
              </a:tr>
              <a:tr h="0">
                <a:tc>
                  <a:txBody>
                    <a:bodyPr/>
                    <a:lstStyle/>
                    <a:p>
                      <a:r>
                        <a:rPr lang="en-IN"/>
                        <a:t>ORM</a:t>
                      </a:r>
                    </a:p>
                  </a:txBody>
                  <a:tcPr anchor="ctr">
                    <a:lnL>
                      <a:noFill/>
                    </a:lnL>
                    <a:lnR>
                      <a:noFill/>
                    </a:lnR>
                    <a:lnT>
                      <a:noFill/>
                    </a:lnT>
                    <a:lnB>
                      <a:noFill/>
                    </a:lnB>
                  </a:tcPr>
                </a:tc>
                <a:tc>
                  <a:txBody>
                    <a:bodyPr/>
                    <a:lstStyle/>
                    <a:p>
                      <a:r>
                        <a:rPr lang="en-IN"/>
                        <a:t>SQLAlchemy</a:t>
                      </a:r>
                    </a:p>
                  </a:txBody>
                  <a:tcPr anchor="ctr">
                    <a:lnL>
                      <a:noFill/>
                    </a:lnL>
                    <a:lnR>
                      <a:noFill/>
                    </a:lnR>
                    <a:lnT>
                      <a:noFill/>
                    </a:lnT>
                    <a:lnB>
                      <a:noFill/>
                    </a:lnB>
                  </a:tcPr>
                </a:tc>
                <a:extLst>
                  <a:ext uri="{0D108BD9-81ED-4DB2-BD59-A6C34878D82A}">
                    <a16:rowId xmlns:a16="http://schemas.microsoft.com/office/drawing/2014/main" val="2859495835"/>
                  </a:ext>
                </a:extLst>
              </a:tr>
              <a:tr h="0">
                <a:tc>
                  <a:txBody>
                    <a:bodyPr/>
                    <a:lstStyle/>
                    <a:p>
                      <a:r>
                        <a:rPr lang="en-IN"/>
                        <a:t>Database Driver</a:t>
                      </a:r>
                    </a:p>
                  </a:txBody>
                  <a:tcPr anchor="ctr">
                    <a:lnL>
                      <a:noFill/>
                    </a:lnL>
                    <a:lnR>
                      <a:noFill/>
                    </a:lnR>
                    <a:lnT>
                      <a:noFill/>
                    </a:lnT>
                    <a:lnB>
                      <a:noFill/>
                    </a:lnB>
                  </a:tcPr>
                </a:tc>
                <a:tc>
                  <a:txBody>
                    <a:bodyPr/>
                    <a:lstStyle/>
                    <a:p>
                      <a:r>
                        <a:rPr lang="en-IN"/>
                        <a:t>PyMySQL</a:t>
                      </a:r>
                    </a:p>
                  </a:txBody>
                  <a:tcPr anchor="ctr">
                    <a:lnL>
                      <a:noFill/>
                    </a:lnL>
                    <a:lnR>
                      <a:noFill/>
                    </a:lnR>
                    <a:lnT>
                      <a:noFill/>
                    </a:lnT>
                    <a:lnB>
                      <a:noFill/>
                    </a:lnB>
                  </a:tcPr>
                </a:tc>
                <a:extLst>
                  <a:ext uri="{0D108BD9-81ED-4DB2-BD59-A6C34878D82A}">
                    <a16:rowId xmlns:a16="http://schemas.microsoft.com/office/drawing/2014/main" val="2218354220"/>
                  </a:ext>
                </a:extLst>
              </a:tr>
              <a:tr h="0">
                <a:tc>
                  <a:txBody>
                    <a:bodyPr/>
                    <a:lstStyle/>
                    <a:p>
                      <a:r>
                        <a:rPr lang="en-IN"/>
                        <a:t>Authentication</a:t>
                      </a:r>
                    </a:p>
                  </a:txBody>
                  <a:tcPr anchor="ctr">
                    <a:lnL>
                      <a:noFill/>
                    </a:lnL>
                    <a:lnR>
                      <a:noFill/>
                    </a:lnR>
                    <a:lnT>
                      <a:noFill/>
                    </a:lnT>
                    <a:lnB>
                      <a:noFill/>
                    </a:lnB>
                  </a:tcPr>
                </a:tc>
                <a:tc>
                  <a:txBody>
                    <a:bodyPr/>
                    <a:lstStyle/>
                    <a:p>
                      <a:r>
                        <a:rPr lang="en-IN"/>
                        <a:t>JWT</a:t>
                      </a:r>
                    </a:p>
                  </a:txBody>
                  <a:tcPr anchor="ctr">
                    <a:lnL>
                      <a:noFill/>
                    </a:lnL>
                    <a:lnR>
                      <a:noFill/>
                    </a:lnR>
                    <a:lnT>
                      <a:noFill/>
                    </a:lnT>
                    <a:lnB>
                      <a:noFill/>
                    </a:lnB>
                  </a:tcPr>
                </a:tc>
                <a:extLst>
                  <a:ext uri="{0D108BD9-81ED-4DB2-BD59-A6C34878D82A}">
                    <a16:rowId xmlns:a16="http://schemas.microsoft.com/office/drawing/2014/main" val="2865217396"/>
                  </a:ext>
                </a:extLst>
              </a:tr>
              <a:tr h="0">
                <a:tc>
                  <a:txBody>
                    <a:bodyPr/>
                    <a:lstStyle/>
                    <a:p>
                      <a:r>
                        <a:rPr lang="en-IN"/>
                        <a:t>Password Security</a:t>
                      </a:r>
                    </a:p>
                  </a:txBody>
                  <a:tcPr anchor="ctr">
                    <a:lnL>
                      <a:noFill/>
                    </a:lnL>
                    <a:lnR>
                      <a:noFill/>
                    </a:lnR>
                    <a:lnT>
                      <a:noFill/>
                    </a:lnT>
                    <a:lnB>
                      <a:noFill/>
                    </a:lnB>
                  </a:tcPr>
                </a:tc>
                <a:tc>
                  <a:txBody>
                    <a:bodyPr/>
                    <a:lstStyle/>
                    <a:p>
                      <a:r>
                        <a:rPr lang="en-IN"/>
                        <a:t>bcrypt / Passlib</a:t>
                      </a:r>
                    </a:p>
                  </a:txBody>
                  <a:tcPr anchor="ctr">
                    <a:lnL>
                      <a:noFill/>
                    </a:lnL>
                    <a:lnR>
                      <a:noFill/>
                    </a:lnR>
                    <a:lnT>
                      <a:noFill/>
                    </a:lnT>
                    <a:lnB>
                      <a:noFill/>
                    </a:lnB>
                  </a:tcPr>
                </a:tc>
                <a:extLst>
                  <a:ext uri="{0D108BD9-81ED-4DB2-BD59-A6C34878D82A}">
                    <a16:rowId xmlns:a16="http://schemas.microsoft.com/office/drawing/2014/main" val="2320501049"/>
                  </a:ext>
                </a:extLst>
              </a:tr>
              <a:tr h="0">
                <a:tc>
                  <a:txBody>
                    <a:bodyPr/>
                    <a:lstStyle/>
                    <a:p>
                      <a:r>
                        <a:rPr lang="en-IN"/>
                        <a:t>Server</a:t>
                      </a:r>
                    </a:p>
                  </a:txBody>
                  <a:tcPr anchor="ctr">
                    <a:lnL>
                      <a:noFill/>
                    </a:lnL>
                    <a:lnR>
                      <a:noFill/>
                    </a:lnR>
                    <a:lnT>
                      <a:noFill/>
                    </a:lnT>
                    <a:lnB>
                      <a:noFill/>
                    </a:lnB>
                  </a:tcPr>
                </a:tc>
                <a:tc>
                  <a:txBody>
                    <a:bodyPr/>
                    <a:lstStyle/>
                    <a:p>
                      <a:r>
                        <a:rPr lang="en-IN"/>
                        <a:t>Uvicorn</a:t>
                      </a:r>
                    </a:p>
                  </a:txBody>
                  <a:tcPr anchor="ctr">
                    <a:lnL>
                      <a:noFill/>
                    </a:lnL>
                    <a:lnR>
                      <a:noFill/>
                    </a:lnR>
                    <a:lnT>
                      <a:noFill/>
                    </a:lnT>
                    <a:lnB>
                      <a:noFill/>
                    </a:lnB>
                  </a:tcPr>
                </a:tc>
                <a:extLst>
                  <a:ext uri="{0D108BD9-81ED-4DB2-BD59-A6C34878D82A}">
                    <a16:rowId xmlns:a16="http://schemas.microsoft.com/office/drawing/2014/main" val="319768739"/>
                  </a:ext>
                </a:extLst>
              </a:tr>
              <a:tr h="0">
                <a:tc>
                  <a:txBody>
                    <a:bodyPr/>
                    <a:lstStyle/>
                    <a:p>
                      <a:r>
                        <a:rPr lang="en-IN"/>
                        <a:t>Development</a:t>
                      </a:r>
                    </a:p>
                  </a:txBody>
                  <a:tcPr anchor="ctr">
                    <a:lnL>
                      <a:noFill/>
                    </a:lnL>
                    <a:lnR>
                      <a:noFill/>
                    </a:lnR>
                    <a:lnT>
                      <a:noFill/>
                    </a:lnT>
                    <a:lnB>
                      <a:noFill/>
                    </a:lnB>
                  </a:tcPr>
                </a:tc>
                <a:tc>
                  <a:txBody>
                    <a:bodyPr/>
                    <a:lstStyle/>
                    <a:p>
                      <a:r>
                        <a:rPr lang="en-IN" dirty="0"/>
                        <a:t>VS Code / PyCharm</a:t>
                      </a:r>
                    </a:p>
                  </a:txBody>
                  <a:tcPr anchor="ctr">
                    <a:lnL>
                      <a:noFill/>
                    </a:lnL>
                    <a:lnR>
                      <a:noFill/>
                    </a:lnR>
                    <a:lnT>
                      <a:noFill/>
                    </a:lnT>
                    <a:lnB>
                      <a:noFill/>
                    </a:lnB>
                  </a:tcPr>
                </a:tc>
                <a:extLst>
                  <a:ext uri="{0D108BD9-81ED-4DB2-BD59-A6C34878D82A}">
                    <a16:rowId xmlns:a16="http://schemas.microsoft.com/office/drawing/2014/main" val="934939011"/>
                  </a:ext>
                </a:extLst>
              </a:tr>
            </a:tbl>
          </a:graphicData>
        </a:graphic>
      </p:graphicFrame>
      <p:sp>
        <p:nvSpPr>
          <p:cNvPr id="7" name="Rectangle 6">
            <a:extLst>
              <a:ext uri="{FF2B5EF4-FFF2-40B4-BE49-F238E27FC236}">
                <a16:creationId xmlns:a16="http://schemas.microsoft.com/office/drawing/2014/main" id="{524F74EE-1770-CFE4-C421-5E7F3FBB0591}"/>
              </a:ext>
            </a:extLst>
          </p:cNvPr>
          <p:cNvSpPr/>
          <p:nvPr/>
        </p:nvSpPr>
        <p:spPr>
          <a:xfrm>
            <a:off x="457200" y="1508760"/>
            <a:ext cx="11155680" cy="4389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a:extLst>
              <a:ext uri="{FF2B5EF4-FFF2-40B4-BE49-F238E27FC236}">
                <a16:creationId xmlns:a16="http://schemas.microsoft.com/office/drawing/2014/main" id="{2AABC6D4-1F58-51A8-EF99-4DC86251C272}"/>
              </a:ext>
            </a:extLst>
          </p:cNvPr>
          <p:cNvSpPr txBox="1"/>
          <p:nvPr/>
        </p:nvSpPr>
        <p:spPr>
          <a:xfrm>
            <a:off x="914400" y="1691640"/>
            <a:ext cx="10241280" cy="3206006"/>
          </a:xfrm>
          <a:prstGeom prst="rect">
            <a:avLst/>
          </a:prstGeom>
          <a:noFill/>
        </p:spPr>
        <p:txBody>
          <a:bodyPr wrap="square">
            <a:spAutoFit/>
          </a:bodyPr>
          <a:lstStyle/>
          <a:p>
            <a:pPr>
              <a:spcAft>
                <a:spcPts val="1000"/>
              </a:spcAft>
              <a:defRPr sz="1800">
                <a:solidFill>
                  <a:srgbClr val="1E1E1E"/>
                </a:solidFill>
              </a:defRPr>
            </a:pPr>
            <a:r>
              <a:rPr dirty="0"/>
              <a:t>Frontend:  React, Vite, HTML, CSS, JavaScript, React Router</a:t>
            </a:r>
          </a:p>
          <a:p>
            <a:pPr>
              <a:spcAft>
                <a:spcPts val="1000"/>
              </a:spcAft>
              <a:defRPr sz="1800">
                <a:solidFill>
                  <a:srgbClr val="1E1E1E"/>
                </a:solidFill>
              </a:defRPr>
            </a:pPr>
            <a:r>
              <a:rPr dirty="0"/>
              <a:t>Backend:  Python, FastAPI, </a:t>
            </a:r>
            <a:r>
              <a:rPr dirty="0" err="1"/>
              <a:t>Uvicorn</a:t>
            </a:r>
            <a:endParaRPr dirty="0"/>
          </a:p>
          <a:p>
            <a:pPr>
              <a:spcAft>
                <a:spcPts val="1000"/>
              </a:spcAft>
              <a:defRPr sz="1800">
                <a:solidFill>
                  <a:srgbClr val="1E1E1E"/>
                </a:solidFill>
              </a:defRPr>
            </a:pPr>
            <a:r>
              <a:rPr dirty="0"/>
              <a:t>Database:  MySQL</a:t>
            </a:r>
          </a:p>
          <a:p>
            <a:pPr>
              <a:spcAft>
                <a:spcPts val="1000"/>
              </a:spcAft>
              <a:defRPr sz="1800">
                <a:solidFill>
                  <a:srgbClr val="1E1E1E"/>
                </a:solidFill>
              </a:defRPr>
            </a:pPr>
            <a:r>
              <a:rPr dirty="0"/>
              <a:t>ORM / Driver:  </a:t>
            </a:r>
            <a:r>
              <a:rPr dirty="0" err="1"/>
              <a:t>SQLAlchemy</a:t>
            </a:r>
            <a:r>
              <a:rPr dirty="0"/>
              <a:t>, </a:t>
            </a:r>
            <a:r>
              <a:rPr dirty="0" err="1"/>
              <a:t>PyMySQL</a:t>
            </a:r>
            <a:endParaRPr dirty="0"/>
          </a:p>
          <a:p>
            <a:pPr>
              <a:spcAft>
                <a:spcPts val="1000"/>
              </a:spcAft>
              <a:defRPr sz="1800">
                <a:solidFill>
                  <a:srgbClr val="1E1E1E"/>
                </a:solidFill>
              </a:defRPr>
            </a:pPr>
            <a:r>
              <a:rPr dirty="0"/>
              <a:t>Authentication:  JWT, HTTP Bearer</a:t>
            </a:r>
          </a:p>
          <a:p>
            <a:pPr>
              <a:spcAft>
                <a:spcPts val="1000"/>
              </a:spcAft>
              <a:defRPr sz="1800">
                <a:solidFill>
                  <a:srgbClr val="1E1E1E"/>
                </a:solidFill>
              </a:defRPr>
            </a:pPr>
            <a:r>
              <a:rPr dirty="0"/>
              <a:t>Password Security:  </a:t>
            </a:r>
            <a:r>
              <a:rPr dirty="0" err="1"/>
              <a:t>Passlib</a:t>
            </a:r>
            <a:r>
              <a:rPr dirty="0"/>
              <a:t> / </a:t>
            </a:r>
            <a:r>
              <a:rPr dirty="0" err="1"/>
              <a:t>bcrypt</a:t>
            </a:r>
            <a:endParaRPr dirty="0"/>
          </a:p>
          <a:p>
            <a:pPr>
              <a:spcAft>
                <a:spcPts val="1000"/>
              </a:spcAft>
              <a:defRPr sz="1800">
                <a:solidFill>
                  <a:srgbClr val="1E1E1E"/>
                </a:solidFill>
              </a:defRPr>
            </a:pPr>
            <a:r>
              <a:rPr dirty="0"/>
              <a:t>Development:  </a:t>
            </a:r>
            <a:r>
              <a:rPr lang="en-US" dirty="0"/>
              <a:t>Visual Studio Code (</a:t>
            </a:r>
            <a:r>
              <a:rPr dirty="0"/>
              <a:t>VS Code</a:t>
            </a:r>
            <a:r>
              <a:rPr lang="en-US" dirty="0"/>
              <a:t>)</a:t>
            </a:r>
            <a:endParaRPr dirty="0"/>
          </a:p>
          <a:p>
            <a:pPr>
              <a:spcAft>
                <a:spcPts val="1000"/>
              </a:spcAft>
              <a:defRPr sz="1800">
                <a:solidFill>
                  <a:srgbClr val="1E1E1E"/>
                </a:solidFill>
              </a:defRPr>
            </a:pPr>
            <a:r>
              <a:rPr dirty="0"/>
              <a:t>API Documentation:  FastAPI Swagger / </a:t>
            </a:r>
            <a:r>
              <a:rPr dirty="0" err="1"/>
              <a:t>OpenAPI</a:t>
            </a:r>
            <a:endParaRPr dirty="0"/>
          </a:p>
        </p:txBody>
      </p:sp>
    </p:spTree>
    <p:extLst>
      <p:ext uri="{BB962C8B-B14F-4D97-AF65-F5344CB8AC3E}">
        <p14:creationId xmlns:p14="http://schemas.microsoft.com/office/powerpoint/2010/main" val="31564212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85800" y="411480"/>
            <a:ext cx="10789920" cy="594360"/>
          </a:xfrm>
          <a:prstGeom prst="rect">
            <a:avLst/>
          </a:prstGeom>
          <a:noFill/>
        </p:spPr>
        <p:txBody>
          <a:bodyPr wrap="none">
            <a:spAutoFit/>
          </a:bodyPr>
          <a:lstStyle/>
          <a:p>
            <a:pPr algn="ctr">
              <a:defRPr sz="3200" b="1">
                <a:solidFill>
                  <a:srgbClr val="0070C0"/>
                </a:solidFill>
              </a:defRPr>
            </a:pPr>
            <a:r>
              <a:rPr dirty="0"/>
              <a:t>SYSTEM ARCHITECTURE</a:t>
            </a:r>
          </a:p>
        </p:txBody>
      </p:sp>
      <p:sp>
        <p:nvSpPr>
          <p:cNvPr id="3" name="Rounded Rectangle 2"/>
          <p:cNvSpPr/>
          <p:nvPr/>
        </p:nvSpPr>
        <p:spPr>
          <a:xfrm>
            <a:off x="640080" y="2057400"/>
            <a:ext cx="2194560" cy="1097280"/>
          </a:xfrm>
          <a:prstGeom prst="roundRect">
            <a:avLst/>
          </a:prstGeom>
          <a:solidFill>
            <a:srgbClr val="E7F2FC"/>
          </a:solidFill>
          <a:ln>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1E1E1E"/>
                </a:solidFill>
              </a:defRPr>
            </a:pPr>
            <a:r>
              <a:t>Patient / Admin</a:t>
            </a:r>
            <a:br/>
            <a:r>
              <a:t>Browser</a:t>
            </a:r>
          </a:p>
        </p:txBody>
      </p:sp>
      <p:sp>
        <p:nvSpPr>
          <p:cNvPr id="4" name="Rounded Rectangle 3"/>
          <p:cNvSpPr/>
          <p:nvPr/>
        </p:nvSpPr>
        <p:spPr>
          <a:xfrm>
            <a:off x="3337560" y="2057400"/>
            <a:ext cx="2377440" cy="1097280"/>
          </a:xfrm>
          <a:prstGeom prst="roundRect">
            <a:avLst/>
          </a:prstGeom>
          <a:solidFill>
            <a:srgbClr val="E7F2FC"/>
          </a:solidFill>
          <a:ln>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1E1E1E"/>
                </a:solidFill>
              </a:defRPr>
            </a:pPr>
            <a:r>
              <a:t>React + Vite</a:t>
            </a:r>
            <a:br/>
            <a:r>
              <a:t>Frontend</a:t>
            </a:r>
          </a:p>
        </p:txBody>
      </p:sp>
      <p:sp>
        <p:nvSpPr>
          <p:cNvPr id="5" name="Rounded Rectangle 4"/>
          <p:cNvSpPr/>
          <p:nvPr/>
        </p:nvSpPr>
        <p:spPr>
          <a:xfrm>
            <a:off x="6217920" y="2057400"/>
            <a:ext cx="2377440" cy="1097280"/>
          </a:xfrm>
          <a:prstGeom prst="roundRect">
            <a:avLst/>
          </a:prstGeom>
          <a:solidFill>
            <a:srgbClr val="E7F2FC"/>
          </a:solidFill>
          <a:ln>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1E1E1E"/>
                </a:solidFill>
              </a:defRPr>
            </a:pPr>
            <a:r>
              <a:rPr dirty="0"/>
              <a:t>FastAPI</a:t>
            </a:r>
            <a:br>
              <a:rPr dirty="0"/>
            </a:br>
            <a:r>
              <a:rPr dirty="0"/>
              <a:t>REST Backend</a:t>
            </a:r>
          </a:p>
        </p:txBody>
      </p:sp>
      <p:sp>
        <p:nvSpPr>
          <p:cNvPr id="6" name="Rounded Rectangle 5"/>
          <p:cNvSpPr/>
          <p:nvPr/>
        </p:nvSpPr>
        <p:spPr>
          <a:xfrm>
            <a:off x="9098280" y="2057400"/>
            <a:ext cx="2103120" cy="1097280"/>
          </a:xfrm>
          <a:prstGeom prst="roundRect">
            <a:avLst/>
          </a:prstGeom>
          <a:solidFill>
            <a:srgbClr val="E7F2FC"/>
          </a:solidFill>
          <a:ln>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1E1E1E"/>
                </a:solidFill>
              </a:defRPr>
            </a:pPr>
            <a:r>
              <a:t>MySQL</a:t>
            </a:r>
            <a:br/>
            <a:r>
              <a:t>Database</a:t>
            </a:r>
          </a:p>
        </p:txBody>
      </p:sp>
      <p:sp>
        <p:nvSpPr>
          <p:cNvPr id="7" name="Right Arrow 6"/>
          <p:cNvSpPr/>
          <p:nvPr/>
        </p:nvSpPr>
        <p:spPr>
          <a:xfrm>
            <a:off x="2788920" y="2395728"/>
            <a:ext cx="502920" cy="411480"/>
          </a:xfrm>
          <a:prstGeom prst="rightArrow">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ight Arrow 7"/>
          <p:cNvSpPr/>
          <p:nvPr/>
        </p:nvSpPr>
        <p:spPr>
          <a:xfrm>
            <a:off x="5669280" y="2395728"/>
            <a:ext cx="502920" cy="411480"/>
          </a:xfrm>
          <a:prstGeom prst="rightArrow">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ight Arrow 8"/>
          <p:cNvSpPr/>
          <p:nvPr/>
        </p:nvSpPr>
        <p:spPr>
          <a:xfrm>
            <a:off x="8549640" y="2395728"/>
            <a:ext cx="502920" cy="411480"/>
          </a:xfrm>
          <a:prstGeom prst="rightArrow">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68680" y="3703320"/>
            <a:ext cx="10241280" cy="1554480"/>
          </a:xfrm>
          <a:prstGeom prst="rect">
            <a:avLst/>
          </a:prstGeom>
          <a:noFill/>
        </p:spPr>
        <p:txBody>
          <a:bodyPr wrap="square">
            <a:spAutoFit/>
          </a:bodyPr>
          <a:lstStyle/>
          <a:p>
            <a:pPr>
              <a:spcAft>
                <a:spcPts val="1000"/>
              </a:spcAft>
              <a:defRPr sz="1800">
                <a:solidFill>
                  <a:srgbClr val="1E1E1E"/>
                </a:solidFill>
              </a:defRPr>
            </a:pPr>
            <a:r>
              <a:rPr dirty="0"/>
              <a:t>• Separate frontend, backend and database layers.</a:t>
            </a:r>
          </a:p>
          <a:p>
            <a:pPr>
              <a:spcAft>
                <a:spcPts val="1000"/>
              </a:spcAft>
              <a:defRPr sz="1800">
                <a:solidFill>
                  <a:srgbClr val="1E1E1E"/>
                </a:solidFill>
              </a:defRPr>
            </a:pPr>
            <a:r>
              <a:rPr dirty="0"/>
              <a:t>• FastAPI handles requests, validation, business logic and MySQL communication.</a:t>
            </a:r>
          </a:p>
          <a:p>
            <a:pPr>
              <a:spcAft>
                <a:spcPts val="1000"/>
              </a:spcAft>
              <a:defRPr sz="1800">
                <a:solidFill>
                  <a:srgbClr val="1E1E1E"/>
                </a:solidFill>
              </a:defRPr>
            </a:pPr>
            <a:r>
              <a:rPr dirty="0"/>
              <a:t>• JWT-based authentication protects patient and administrator functions.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85800" y="411480"/>
            <a:ext cx="10789920" cy="594360"/>
          </a:xfrm>
          <a:prstGeom prst="rect">
            <a:avLst/>
          </a:prstGeom>
          <a:noFill/>
        </p:spPr>
        <p:txBody>
          <a:bodyPr wrap="none">
            <a:spAutoFit/>
          </a:bodyPr>
          <a:lstStyle/>
          <a:p>
            <a:pPr algn="ctr">
              <a:defRPr sz="3200" b="1">
                <a:solidFill>
                  <a:srgbClr val="0070C0"/>
                </a:solidFill>
              </a:defRPr>
            </a:pPr>
            <a:r>
              <a:t>DATABASE DESIGN</a:t>
            </a:r>
          </a:p>
        </p:txBody>
      </p:sp>
      <p:sp>
        <p:nvSpPr>
          <p:cNvPr id="3" name="Rounded Rectangle 2"/>
          <p:cNvSpPr/>
          <p:nvPr/>
        </p:nvSpPr>
        <p:spPr>
          <a:xfrm>
            <a:off x="502920" y="1417320"/>
            <a:ext cx="2240280" cy="1417320"/>
          </a:xfrm>
          <a:prstGeom prst="roundRect">
            <a:avLst/>
          </a:prstGeom>
          <a:solidFill>
            <a:srgbClr val="FFFFFF"/>
          </a:solidFill>
          <a:ln>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0070C0"/>
                </a:solidFill>
              </a:defRPr>
            </a:pPr>
            <a:r>
              <a:t>admins</a:t>
            </a:r>
          </a:p>
          <a:p>
            <a:pPr algn="ctr">
              <a:defRPr sz="1100"/>
            </a:pPr>
            <a:r>
              <a:t>admin_id</a:t>
            </a:r>
          </a:p>
          <a:p>
            <a:pPr algn="ctr">
              <a:defRPr sz="1100"/>
            </a:pPr>
            <a:r>
              <a:t>email</a:t>
            </a:r>
          </a:p>
          <a:p>
            <a:pPr algn="ctr">
              <a:defRPr sz="1100"/>
            </a:pPr>
            <a:r>
              <a:t>password</a:t>
            </a:r>
          </a:p>
        </p:txBody>
      </p:sp>
      <p:sp>
        <p:nvSpPr>
          <p:cNvPr id="4" name="Rounded Rectangle 3"/>
          <p:cNvSpPr/>
          <p:nvPr/>
        </p:nvSpPr>
        <p:spPr>
          <a:xfrm>
            <a:off x="2971800" y="1417320"/>
            <a:ext cx="2240280" cy="1417320"/>
          </a:xfrm>
          <a:prstGeom prst="roundRect">
            <a:avLst/>
          </a:prstGeom>
          <a:solidFill>
            <a:srgbClr val="FFFFFF"/>
          </a:solidFill>
          <a:ln>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0070C0"/>
                </a:solidFill>
              </a:defRPr>
            </a:pPr>
            <a:r>
              <a:t>patients</a:t>
            </a:r>
          </a:p>
          <a:p>
            <a:pPr algn="ctr">
              <a:defRPr sz="1100"/>
            </a:pPr>
            <a:r>
              <a:t>patient_id</a:t>
            </a:r>
          </a:p>
          <a:p>
            <a:pPr algn="ctr">
              <a:defRPr sz="1100"/>
            </a:pPr>
            <a:r>
              <a:t>email</a:t>
            </a:r>
          </a:p>
          <a:p>
            <a:pPr algn="ctr">
              <a:defRPr sz="1100"/>
            </a:pPr>
            <a:r>
              <a:t>password</a:t>
            </a:r>
          </a:p>
        </p:txBody>
      </p:sp>
      <p:sp>
        <p:nvSpPr>
          <p:cNvPr id="5" name="Rounded Rectangle 4"/>
          <p:cNvSpPr/>
          <p:nvPr/>
        </p:nvSpPr>
        <p:spPr>
          <a:xfrm>
            <a:off x="5440680" y="1417320"/>
            <a:ext cx="2240280" cy="1417320"/>
          </a:xfrm>
          <a:prstGeom prst="roundRect">
            <a:avLst/>
          </a:prstGeom>
          <a:solidFill>
            <a:srgbClr val="FFFFFF"/>
          </a:solidFill>
          <a:ln>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0070C0"/>
                </a:solidFill>
              </a:defRPr>
            </a:pPr>
            <a:r>
              <a:t>doctors</a:t>
            </a:r>
          </a:p>
          <a:p>
            <a:pPr algn="ctr">
              <a:defRPr sz="1100"/>
            </a:pPr>
            <a:r>
              <a:t>doctor_id</a:t>
            </a:r>
          </a:p>
          <a:p>
            <a:pPr algn="ctr">
              <a:defRPr sz="1100"/>
            </a:pPr>
            <a:r>
              <a:t>specialization_id</a:t>
            </a:r>
          </a:p>
          <a:p>
            <a:pPr algn="ctr">
              <a:defRPr sz="1100"/>
            </a:pPr>
            <a:r>
              <a:t>name</a:t>
            </a:r>
          </a:p>
        </p:txBody>
      </p:sp>
      <p:sp>
        <p:nvSpPr>
          <p:cNvPr id="6" name="Rounded Rectangle 5"/>
          <p:cNvSpPr/>
          <p:nvPr/>
        </p:nvSpPr>
        <p:spPr>
          <a:xfrm>
            <a:off x="7909560" y="1417320"/>
            <a:ext cx="2240280" cy="1417320"/>
          </a:xfrm>
          <a:prstGeom prst="roundRect">
            <a:avLst/>
          </a:prstGeom>
          <a:solidFill>
            <a:srgbClr val="FFFFFF"/>
          </a:solidFill>
          <a:ln>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0070C0"/>
                </a:solidFill>
              </a:defRPr>
            </a:pPr>
            <a:r>
              <a:t>doctor_availability</a:t>
            </a:r>
          </a:p>
          <a:p>
            <a:pPr algn="ctr">
              <a:defRPr sz="1100"/>
            </a:pPr>
            <a:r>
              <a:t>availability_id</a:t>
            </a:r>
          </a:p>
          <a:p>
            <a:pPr algn="ctr">
              <a:defRPr sz="1100"/>
            </a:pPr>
            <a:r>
              <a:t>doctor_id</a:t>
            </a:r>
          </a:p>
          <a:p>
            <a:pPr algn="ctr">
              <a:defRPr sz="1100"/>
            </a:pPr>
            <a:r>
              <a:t>day</a:t>
            </a:r>
          </a:p>
        </p:txBody>
      </p:sp>
      <p:sp>
        <p:nvSpPr>
          <p:cNvPr id="7" name="Rounded Rectangle 6"/>
          <p:cNvSpPr/>
          <p:nvPr/>
        </p:nvSpPr>
        <p:spPr>
          <a:xfrm>
            <a:off x="502920" y="3337560"/>
            <a:ext cx="2240280" cy="1417320"/>
          </a:xfrm>
          <a:prstGeom prst="roundRect">
            <a:avLst/>
          </a:prstGeom>
          <a:solidFill>
            <a:srgbClr val="FFFFFF"/>
          </a:solidFill>
          <a:ln>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0070C0"/>
                </a:solidFill>
              </a:defRPr>
            </a:pPr>
            <a:r>
              <a:t>appointments</a:t>
            </a:r>
          </a:p>
          <a:p>
            <a:pPr algn="ctr">
              <a:defRPr sz="1100"/>
            </a:pPr>
            <a:r>
              <a:t>appointment_id</a:t>
            </a:r>
          </a:p>
          <a:p>
            <a:pPr algn="ctr">
              <a:defRPr sz="1100"/>
            </a:pPr>
            <a:r>
              <a:t>patient_id</a:t>
            </a:r>
          </a:p>
          <a:p>
            <a:pPr algn="ctr">
              <a:defRPr sz="1100"/>
            </a:pPr>
            <a:r>
              <a:t>doctor_id</a:t>
            </a:r>
          </a:p>
        </p:txBody>
      </p:sp>
      <p:sp>
        <p:nvSpPr>
          <p:cNvPr id="8" name="Rounded Rectangle 7"/>
          <p:cNvSpPr/>
          <p:nvPr/>
        </p:nvSpPr>
        <p:spPr>
          <a:xfrm>
            <a:off x="2971800" y="3337560"/>
            <a:ext cx="2240280" cy="1417320"/>
          </a:xfrm>
          <a:prstGeom prst="roundRect">
            <a:avLst/>
          </a:prstGeom>
          <a:solidFill>
            <a:srgbClr val="FFFFFF"/>
          </a:solidFill>
          <a:ln>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0070C0"/>
                </a:solidFill>
              </a:defRPr>
            </a:pPr>
            <a:r>
              <a:t>notifications</a:t>
            </a:r>
          </a:p>
          <a:p>
            <a:pPr algn="ctr">
              <a:defRPr sz="1100"/>
            </a:pPr>
            <a:r>
              <a:t>notification_id</a:t>
            </a:r>
          </a:p>
          <a:p>
            <a:pPr algn="ctr">
              <a:defRPr sz="1100"/>
            </a:pPr>
            <a:r>
              <a:t>patient_id</a:t>
            </a:r>
          </a:p>
          <a:p>
            <a:pPr algn="ctr">
              <a:defRPr sz="1100"/>
            </a:pPr>
            <a:r>
              <a:t>appointment_id</a:t>
            </a:r>
          </a:p>
        </p:txBody>
      </p:sp>
      <p:sp>
        <p:nvSpPr>
          <p:cNvPr id="9" name="Rounded Rectangle 8"/>
          <p:cNvSpPr/>
          <p:nvPr/>
        </p:nvSpPr>
        <p:spPr>
          <a:xfrm>
            <a:off x="5440680" y="3337560"/>
            <a:ext cx="2240280" cy="1417320"/>
          </a:xfrm>
          <a:prstGeom prst="roundRect">
            <a:avLst/>
          </a:prstGeom>
          <a:solidFill>
            <a:srgbClr val="FFFFFF"/>
          </a:solidFill>
          <a:ln>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0070C0"/>
                </a:solidFill>
              </a:defRPr>
            </a:pPr>
            <a:r>
              <a:t>payments</a:t>
            </a:r>
          </a:p>
          <a:p>
            <a:pPr algn="ctr">
              <a:defRPr sz="1100"/>
            </a:pPr>
            <a:r>
              <a:t>payment_id</a:t>
            </a:r>
          </a:p>
          <a:p>
            <a:pPr algn="ctr">
              <a:defRPr sz="1100"/>
            </a:pPr>
            <a:r>
              <a:t>appointment_id</a:t>
            </a:r>
          </a:p>
          <a:p>
            <a:pPr algn="ctr">
              <a:defRPr sz="1100"/>
            </a:pPr>
            <a:r>
              <a:t>receipt_number</a:t>
            </a:r>
          </a:p>
        </p:txBody>
      </p:sp>
      <p:sp>
        <p:nvSpPr>
          <p:cNvPr id="10" name="Rounded Rectangle 9"/>
          <p:cNvSpPr/>
          <p:nvPr/>
        </p:nvSpPr>
        <p:spPr>
          <a:xfrm>
            <a:off x="7909560" y="3337560"/>
            <a:ext cx="2240280" cy="1417320"/>
          </a:xfrm>
          <a:prstGeom prst="roundRect">
            <a:avLst/>
          </a:prstGeom>
          <a:solidFill>
            <a:srgbClr val="FFFFFF"/>
          </a:solidFill>
          <a:ln>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0070C0"/>
                </a:solidFill>
              </a:defRPr>
            </a:pPr>
            <a:r>
              <a:t>holidays</a:t>
            </a:r>
          </a:p>
          <a:p>
            <a:pPr algn="ctr">
              <a:defRPr sz="1100"/>
            </a:pPr>
            <a:r>
              <a:t>holiday_id</a:t>
            </a:r>
          </a:p>
          <a:p>
            <a:pPr algn="ctr">
              <a:defRPr sz="1100"/>
            </a:pPr>
            <a:r>
              <a:t>holiday_date</a:t>
            </a:r>
          </a:p>
        </p:txBody>
      </p:sp>
      <p:sp>
        <p:nvSpPr>
          <p:cNvPr id="11" name="TextBox 10"/>
          <p:cNvSpPr txBox="1"/>
          <p:nvPr/>
        </p:nvSpPr>
        <p:spPr>
          <a:xfrm>
            <a:off x="777240" y="5760720"/>
            <a:ext cx="10424160" cy="822960"/>
          </a:xfrm>
          <a:prstGeom prst="rect">
            <a:avLst/>
          </a:prstGeom>
          <a:noFill/>
        </p:spPr>
        <p:txBody>
          <a:bodyPr wrap="square">
            <a:spAutoFit/>
          </a:bodyPr>
          <a:lstStyle/>
          <a:p>
            <a:pPr>
              <a:spcAft>
                <a:spcPts val="1000"/>
              </a:spcAft>
              <a:defRPr sz="1500">
                <a:solidFill>
                  <a:srgbClr val="1E1E1E"/>
                </a:solidFill>
              </a:defRPr>
            </a:pPr>
            <a:r>
              <a:rPr dirty="0"/>
              <a:t>• SQL schema implemented in healthcare-</a:t>
            </a:r>
            <a:r>
              <a:rPr dirty="0" err="1"/>
              <a:t>appointment.sql</a:t>
            </a:r>
            <a:endParaRPr dirty="0"/>
          </a:p>
          <a:p>
            <a:pPr>
              <a:defRPr sz="1500">
                <a:solidFill>
                  <a:srgbClr val="1E1E1E"/>
                </a:solidFill>
              </a:defRPr>
            </a:pPr>
            <a:r>
              <a:rPr dirty="0"/>
              <a:t>• Backend uses SQL queries with a MySQL connection layer.</a:t>
            </a:r>
          </a:p>
        </p:txBody>
      </p:sp>
      <p:sp>
        <p:nvSpPr>
          <p:cNvPr id="12" name="Rectangle 11"/>
          <p:cNvSpPr/>
          <p:nvPr/>
        </p:nvSpPr>
        <p:spPr>
          <a:xfrm>
            <a:off x="320040" y="1143000"/>
            <a:ext cx="11521440" cy="44805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502920" y="1325880"/>
            <a:ext cx="3383280" cy="1143000"/>
          </a:xfrm>
          <a:prstGeom prst="roundRect">
            <a:avLst/>
          </a:prstGeom>
          <a:solidFill>
            <a:srgbClr val="FFFFFF"/>
          </a:solidFill>
          <a:ln>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0070C0"/>
                </a:solidFill>
              </a:defRPr>
            </a:pPr>
            <a:r>
              <a:t>admins</a:t>
            </a:r>
          </a:p>
          <a:p>
            <a:pPr algn="ctr">
              <a:defRPr sz="1100">
                <a:solidFill>
                  <a:srgbClr val="1E1E1E"/>
                </a:solidFill>
              </a:defRPr>
            </a:pPr>
            <a:r>
              <a:t>admin_id • email • password</a:t>
            </a:r>
          </a:p>
        </p:txBody>
      </p:sp>
      <p:sp>
        <p:nvSpPr>
          <p:cNvPr id="14" name="Rounded Rectangle 13"/>
          <p:cNvSpPr/>
          <p:nvPr/>
        </p:nvSpPr>
        <p:spPr>
          <a:xfrm>
            <a:off x="4297680" y="1325880"/>
            <a:ext cx="3383280" cy="1143000"/>
          </a:xfrm>
          <a:prstGeom prst="roundRect">
            <a:avLst/>
          </a:prstGeom>
          <a:solidFill>
            <a:srgbClr val="FFFFFF"/>
          </a:solidFill>
          <a:ln>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0070C0"/>
                </a:solidFill>
              </a:defRPr>
            </a:pPr>
            <a:r>
              <a:t>specializations</a:t>
            </a:r>
          </a:p>
          <a:p>
            <a:pPr algn="ctr">
              <a:defRPr sz="1100">
                <a:solidFill>
                  <a:srgbClr val="1E1E1E"/>
                </a:solidFill>
              </a:defRPr>
            </a:pPr>
            <a:r>
              <a:t>specialization_id • name</a:t>
            </a:r>
          </a:p>
        </p:txBody>
      </p:sp>
      <p:sp>
        <p:nvSpPr>
          <p:cNvPr id="15" name="Rounded Rectangle 14"/>
          <p:cNvSpPr/>
          <p:nvPr/>
        </p:nvSpPr>
        <p:spPr>
          <a:xfrm>
            <a:off x="8092440" y="1325880"/>
            <a:ext cx="3383280" cy="1143000"/>
          </a:xfrm>
          <a:prstGeom prst="roundRect">
            <a:avLst/>
          </a:prstGeom>
          <a:solidFill>
            <a:srgbClr val="FFFFFF"/>
          </a:solidFill>
          <a:ln>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0070C0"/>
                </a:solidFill>
              </a:defRPr>
            </a:pPr>
            <a:r>
              <a:t>patients</a:t>
            </a:r>
          </a:p>
          <a:p>
            <a:pPr algn="ctr">
              <a:defRPr sz="1100">
                <a:solidFill>
                  <a:srgbClr val="1E1E1E"/>
                </a:solidFill>
              </a:defRPr>
            </a:pPr>
            <a:r>
              <a:t>patient_id • email • password</a:t>
            </a:r>
          </a:p>
        </p:txBody>
      </p:sp>
      <p:sp>
        <p:nvSpPr>
          <p:cNvPr id="16" name="Rounded Rectangle 15"/>
          <p:cNvSpPr/>
          <p:nvPr/>
        </p:nvSpPr>
        <p:spPr>
          <a:xfrm>
            <a:off x="502920" y="2743200"/>
            <a:ext cx="3383280" cy="1143000"/>
          </a:xfrm>
          <a:prstGeom prst="roundRect">
            <a:avLst/>
          </a:prstGeom>
          <a:solidFill>
            <a:srgbClr val="FFFFFF"/>
          </a:solidFill>
          <a:ln>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0070C0"/>
                </a:solidFill>
              </a:defRPr>
            </a:pPr>
            <a:r>
              <a:t>doctors</a:t>
            </a:r>
          </a:p>
          <a:p>
            <a:pPr algn="ctr">
              <a:defRPr sz="1100">
                <a:solidFill>
                  <a:srgbClr val="1E1E1E"/>
                </a:solidFill>
              </a:defRPr>
            </a:pPr>
            <a:r>
              <a:t>doctor_id • specialization_id • name</a:t>
            </a:r>
          </a:p>
        </p:txBody>
      </p:sp>
      <p:sp>
        <p:nvSpPr>
          <p:cNvPr id="17" name="Rounded Rectangle 16"/>
          <p:cNvSpPr/>
          <p:nvPr/>
        </p:nvSpPr>
        <p:spPr>
          <a:xfrm>
            <a:off x="4297680" y="2743200"/>
            <a:ext cx="3383280" cy="1143000"/>
          </a:xfrm>
          <a:prstGeom prst="roundRect">
            <a:avLst/>
          </a:prstGeom>
          <a:solidFill>
            <a:srgbClr val="FFFFFF"/>
          </a:solidFill>
          <a:ln>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0070C0"/>
                </a:solidFill>
              </a:defRPr>
            </a:pPr>
            <a:r>
              <a:t>doctor_availability</a:t>
            </a:r>
          </a:p>
          <a:p>
            <a:pPr algn="ctr">
              <a:defRPr sz="1100">
                <a:solidFill>
                  <a:srgbClr val="1E1E1E"/>
                </a:solidFill>
              </a:defRPr>
            </a:pPr>
            <a:r>
              <a:t>availability_id • doctor_id • day</a:t>
            </a:r>
          </a:p>
        </p:txBody>
      </p:sp>
      <p:sp>
        <p:nvSpPr>
          <p:cNvPr id="18" name="Rounded Rectangle 17"/>
          <p:cNvSpPr/>
          <p:nvPr/>
        </p:nvSpPr>
        <p:spPr>
          <a:xfrm>
            <a:off x="8092440" y="2743200"/>
            <a:ext cx="3383280" cy="1143000"/>
          </a:xfrm>
          <a:prstGeom prst="roundRect">
            <a:avLst/>
          </a:prstGeom>
          <a:solidFill>
            <a:srgbClr val="FFFFFF"/>
          </a:solidFill>
          <a:ln>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0070C0"/>
                </a:solidFill>
              </a:defRPr>
            </a:pPr>
            <a:r>
              <a:t>holidays</a:t>
            </a:r>
          </a:p>
          <a:p>
            <a:pPr algn="ctr">
              <a:defRPr sz="1100">
                <a:solidFill>
                  <a:srgbClr val="1E1E1E"/>
                </a:solidFill>
              </a:defRPr>
            </a:pPr>
            <a:r>
              <a:t>holiday_id • holiday_date</a:t>
            </a:r>
          </a:p>
        </p:txBody>
      </p:sp>
      <p:sp>
        <p:nvSpPr>
          <p:cNvPr id="19" name="Rounded Rectangle 18"/>
          <p:cNvSpPr/>
          <p:nvPr/>
        </p:nvSpPr>
        <p:spPr>
          <a:xfrm>
            <a:off x="502920" y="4160520"/>
            <a:ext cx="3383280" cy="1143000"/>
          </a:xfrm>
          <a:prstGeom prst="roundRect">
            <a:avLst/>
          </a:prstGeom>
          <a:solidFill>
            <a:srgbClr val="FFFFFF"/>
          </a:solidFill>
          <a:ln>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0070C0"/>
                </a:solidFill>
              </a:defRPr>
            </a:pPr>
            <a:r>
              <a:t>appointments</a:t>
            </a:r>
          </a:p>
          <a:p>
            <a:pPr algn="ctr">
              <a:defRPr sz="1100">
                <a:solidFill>
                  <a:srgbClr val="1E1E1E"/>
                </a:solidFill>
              </a:defRPr>
            </a:pPr>
            <a:r>
              <a:t>appointment_id • patient_id • doctor_id</a:t>
            </a:r>
          </a:p>
        </p:txBody>
      </p:sp>
      <p:sp>
        <p:nvSpPr>
          <p:cNvPr id="20" name="Rounded Rectangle 19"/>
          <p:cNvSpPr/>
          <p:nvPr/>
        </p:nvSpPr>
        <p:spPr>
          <a:xfrm>
            <a:off x="4297680" y="4160520"/>
            <a:ext cx="3383280" cy="1143000"/>
          </a:xfrm>
          <a:prstGeom prst="roundRect">
            <a:avLst/>
          </a:prstGeom>
          <a:solidFill>
            <a:srgbClr val="FFFFFF"/>
          </a:solidFill>
          <a:ln>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0070C0"/>
                </a:solidFill>
              </a:defRPr>
            </a:pPr>
            <a:r>
              <a:t>notifications</a:t>
            </a:r>
          </a:p>
          <a:p>
            <a:pPr algn="ctr">
              <a:defRPr sz="1100">
                <a:solidFill>
                  <a:srgbClr val="1E1E1E"/>
                </a:solidFill>
              </a:defRPr>
            </a:pPr>
            <a:r>
              <a:t>notification_id • patient_id • appointment_id</a:t>
            </a:r>
          </a:p>
        </p:txBody>
      </p:sp>
      <p:sp>
        <p:nvSpPr>
          <p:cNvPr id="21" name="Rounded Rectangle 20"/>
          <p:cNvSpPr/>
          <p:nvPr/>
        </p:nvSpPr>
        <p:spPr>
          <a:xfrm>
            <a:off x="8092440" y="4160520"/>
            <a:ext cx="3383280" cy="1143000"/>
          </a:xfrm>
          <a:prstGeom prst="roundRect">
            <a:avLst/>
          </a:prstGeom>
          <a:solidFill>
            <a:srgbClr val="FFFFFF"/>
          </a:solidFill>
          <a:ln>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0070C0"/>
                </a:solidFill>
              </a:defRPr>
            </a:pPr>
            <a:r>
              <a:t>payments</a:t>
            </a:r>
          </a:p>
          <a:p>
            <a:pPr algn="ctr">
              <a:defRPr sz="1100">
                <a:solidFill>
                  <a:srgbClr val="1E1E1E"/>
                </a:solidFill>
              </a:defRPr>
            </a:pPr>
            <a:r>
              <a:t>payment_id • appointment_id • receipt_number</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85800" y="411480"/>
            <a:ext cx="10789920" cy="594360"/>
          </a:xfrm>
          <a:prstGeom prst="rect">
            <a:avLst/>
          </a:prstGeom>
          <a:noFill/>
        </p:spPr>
        <p:txBody>
          <a:bodyPr wrap="none">
            <a:spAutoFit/>
          </a:bodyPr>
          <a:lstStyle/>
          <a:p>
            <a:pPr algn="ctr">
              <a:defRPr sz="3200" b="1">
                <a:solidFill>
                  <a:srgbClr val="0070C0"/>
                </a:solidFill>
              </a:defRPr>
            </a:pPr>
            <a:r>
              <a:t>APPOINTMENT BOOKING WORKFLOW</a:t>
            </a:r>
          </a:p>
        </p:txBody>
      </p:sp>
      <p:sp>
        <p:nvSpPr>
          <p:cNvPr id="3" name="Rounded Rectangle 2"/>
          <p:cNvSpPr/>
          <p:nvPr/>
        </p:nvSpPr>
        <p:spPr>
          <a:xfrm>
            <a:off x="411480" y="1417320"/>
            <a:ext cx="2423160" cy="868680"/>
          </a:xfrm>
          <a:prstGeom prst="roundRect">
            <a:avLst/>
          </a:prstGeom>
          <a:solidFill>
            <a:srgbClr val="E7F2FC"/>
          </a:solidFill>
          <a:ln>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pPr>
            <a:r>
              <a:t>Login</a:t>
            </a:r>
          </a:p>
        </p:txBody>
      </p:sp>
      <p:sp>
        <p:nvSpPr>
          <p:cNvPr id="4" name="Rounded Rectangle 3"/>
          <p:cNvSpPr/>
          <p:nvPr/>
        </p:nvSpPr>
        <p:spPr>
          <a:xfrm>
            <a:off x="3291840" y="1417320"/>
            <a:ext cx="2423160" cy="868680"/>
          </a:xfrm>
          <a:prstGeom prst="roundRect">
            <a:avLst/>
          </a:prstGeom>
          <a:solidFill>
            <a:srgbClr val="E7F2FC"/>
          </a:solidFill>
          <a:ln>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pPr>
            <a:r>
              <a:t>Select Specialization</a:t>
            </a:r>
          </a:p>
        </p:txBody>
      </p:sp>
      <p:sp>
        <p:nvSpPr>
          <p:cNvPr id="5" name="Rounded Rectangle 4"/>
          <p:cNvSpPr/>
          <p:nvPr/>
        </p:nvSpPr>
        <p:spPr>
          <a:xfrm>
            <a:off x="6172200" y="1417320"/>
            <a:ext cx="2423160" cy="868680"/>
          </a:xfrm>
          <a:prstGeom prst="roundRect">
            <a:avLst/>
          </a:prstGeom>
          <a:solidFill>
            <a:srgbClr val="E7F2FC"/>
          </a:solidFill>
          <a:ln>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pPr>
            <a:r>
              <a:t>Choose Doctor</a:t>
            </a:r>
          </a:p>
        </p:txBody>
      </p:sp>
      <p:sp>
        <p:nvSpPr>
          <p:cNvPr id="6" name="Rounded Rectangle 5"/>
          <p:cNvSpPr/>
          <p:nvPr/>
        </p:nvSpPr>
        <p:spPr>
          <a:xfrm>
            <a:off x="9052559" y="1417320"/>
            <a:ext cx="2423160" cy="868680"/>
          </a:xfrm>
          <a:prstGeom prst="roundRect">
            <a:avLst/>
          </a:prstGeom>
          <a:solidFill>
            <a:srgbClr val="E7F2FC"/>
          </a:solidFill>
          <a:ln>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pPr>
            <a:r>
              <a:t>Select Date</a:t>
            </a:r>
          </a:p>
        </p:txBody>
      </p:sp>
      <p:sp>
        <p:nvSpPr>
          <p:cNvPr id="7" name="Rounded Rectangle 6"/>
          <p:cNvSpPr/>
          <p:nvPr/>
        </p:nvSpPr>
        <p:spPr>
          <a:xfrm>
            <a:off x="411480" y="3017520"/>
            <a:ext cx="2423160" cy="868680"/>
          </a:xfrm>
          <a:prstGeom prst="roundRect">
            <a:avLst/>
          </a:prstGeom>
          <a:solidFill>
            <a:srgbClr val="E7F2FC"/>
          </a:solidFill>
          <a:ln>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pPr>
            <a:r>
              <a:t>Select Time Slot</a:t>
            </a:r>
          </a:p>
        </p:txBody>
      </p:sp>
      <p:sp>
        <p:nvSpPr>
          <p:cNvPr id="8" name="Rounded Rectangle 7"/>
          <p:cNvSpPr/>
          <p:nvPr/>
        </p:nvSpPr>
        <p:spPr>
          <a:xfrm>
            <a:off x="3291840" y="3017520"/>
            <a:ext cx="2423160" cy="868680"/>
          </a:xfrm>
          <a:prstGeom prst="roundRect">
            <a:avLst/>
          </a:prstGeom>
          <a:solidFill>
            <a:srgbClr val="E7F2FC"/>
          </a:solidFill>
          <a:ln>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pPr>
            <a:r>
              <a:t>Enter Reason</a:t>
            </a:r>
          </a:p>
        </p:txBody>
      </p:sp>
      <p:sp>
        <p:nvSpPr>
          <p:cNvPr id="9" name="Rounded Rectangle 8"/>
          <p:cNvSpPr/>
          <p:nvPr/>
        </p:nvSpPr>
        <p:spPr>
          <a:xfrm>
            <a:off x="6172200" y="3017520"/>
            <a:ext cx="2423160" cy="868680"/>
          </a:xfrm>
          <a:prstGeom prst="roundRect">
            <a:avLst/>
          </a:prstGeom>
          <a:solidFill>
            <a:srgbClr val="E7F2FC"/>
          </a:solidFill>
          <a:ln>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pPr>
            <a:r>
              <a:t>Book Appointment</a:t>
            </a:r>
          </a:p>
        </p:txBody>
      </p:sp>
      <p:sp>
        <p:nvSpPr>
          <p:cNvPr id="10" name="Rounded Rectangle 9"/>
          <p:cNvSpPr/>
          <p:nvPr/>
        </p:nvSpPr>
        <p:spPr>
          <a:xfrm>
            <a:off x="9052559" y="3017520"/>
            <a:ext cx="2423160" cy="868680"/>
          </a:xfrm>
          <a:prstGeom prst="roundRect">
            <a:avLst/>
          </a:prstGeom>
          <a:solidFill>
            <a:srgbClr val="E7F2FC"/>
          </a:solidFill>
          <a:ln>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pPr>
            <a:r>
              <a:t>Demo Payment / Receipt</a:t>
            </a:r>
          </a:p>
        </p:txBody>
      </p:sp>
      <p:sp>
        <p:nvSpPr>
          <p:cNvPr id="11" name="TextBox 10"/>
          <p:cNvSpPr txBox="1"/>
          <p:nvPr/>
        </p:nvSpPr>
        <p:spPr>
          <a:xfrm>
            <a:off x="731520" y="4800600"/>
            <a:ext cx="10424160" cy="822960"/>
          </a:xfrm>
          <a:prstGeom prst="rect">
            <a:avLst/>
          </a:prstGeom>
          <a:noFill/>
        </p:spPr>
        <p:txBody>
          <a:bodyPr wrap="square">
            <a:spAutoFit/>
          </a:bodyPr>
          <a:lstStyle/>
          <a:p>
            <a:pPr>
              <a:spcAft>
                <a:spcPts val="1000"/>
              </a:spcAft>
              <a:defRPr sz="1700">
                <a:solidFill>
                  <a:srgbClr val="1E1E1E"/>
                </a:solidFill>
              </a:defRPr>
            </a:pPr>
            <a:r>
              <a:t>• Backend validates doctor availability, date, holidays, slot conflicts and patient booking conditions.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85800" y="411480"/>
            <a:ext cx="10789920" cy="594360"/>
          </a:xfrm>
          <a:prstGeom prst="rect">
            <a:avLst/>
          </a:prstGeom>
          <a:noFill/>
        </p:spPr>
        <p:txBody>
          <a:bodyPr wrap="none">
            <a:spAutoFit/>
          </a:bodyPr>
          <a:lstStyle/>
          <a:p>
            <a:pPr algn="ctr">
              <a:defRPr sz="3200" b="1">
                <a:solidFill>
                  <a:srgbClr val="0070C0"/>
                </a:solidFill>
              </a:defRPr>
            </a:pPr>
            <a:r>
              <a:t>BACKEND &amp; REST API</a:t>
            </a:r>
          </a:p>
        </p:txBody>
      </p:sp>
      <p:sp>
        <p:nvSpPr>
          <p:cNvPr id="3" name="TextBox 2"/>
          <p:cNvSpPr txBox="1"/>
          <p:nvPr/>
        </p:nvSpPr>
        <p:spPr>
          <a:xfrm>
            <a:off x="685800" y="1325880"/>
            <a:ext cx="5486400" cy="3474720"/>
          </a:xfrm>
          <a:prstGeom prst="rect">
            <a:avLst/>
          </a:prstGeom>
          <a:noFill/>
        </p:spPr>
        <p:txBody>
          <a:bodyPr wrap="square">
            <a:spAutoFit/>
          </a:bodyPr>
          <a:lstStyle/>
          <a:p>
            <a:pPr>
              <a:spcAft>
                <a:spcPts val="1000"/>
              </a:spcAft>
              <a:defRPr sz="1800">
                <a:solidFill>
                  <a:srgbClr val="1E1E1E"/>
                </a:solidFill>
              </a:defRPr>
            </a:pPr>
            <a:r>
              <a:rPr dirty="0"/>
              <a:t>• FastAPI provides REST endpoints for authentication, doctors, appointments, notifications, payments and administration.</a:t>
            </a:r>
          </a:p>
          <a:p>
            <a:pPr>
              <a:spcAft>
                <a:spcPts val="1000"/>
              </a:spcAft>
              <a:defRPr sz="1800">
                <a:solidFill>
                  <a:srgbClr val="1E1E1E"/>
                </a:solidFill>
              </a:defRPr>
            </a:pPr>
            <a:r>
              <a:rPr dirty="0"/>
              <a:t>• </a:t>
            </a:r>
            <a:r>
              <a:rPr dirty="0" err="1"/>
              <a:t>Uvicorn</a:t>
            </a:r>
            <a:r>
              <a:rPr dirty="0"/>
              <a:t> runs the FastAPI application.</a:t>
            </a:r>
          </a:p>
          <a:p>
            <a:pPr>
              <a:spcAft>
                <a:spcPts val="1000"/>
              </a:spcAft>
              <a:defRPr sz="1800">
                <a:solidFill>
                  <a:srgbClr val="1E1E1E"/>
                </a:solidFill>
              </a:defRPr>
            </a:pPr>
            <a:r>
              <a:rPr dirty="0"/>
              <a:t>• </a:t>
            </a:r>
            <a:r>
              <a:rPr dirty="0" err="1"/>
              <a:t>SQLAlchemy</a:t>
            </a:r>
            <a:r>
              <a:rPr dirty="0"/>
              <a:t> and </a:t>
            </a:r>
            <a:r>
              <a:rPr dirty="0" err="1"/>
              <a:t>PyMySQL</a:t>
            </a:r>
            <a:r>
              <a:rPr dirty="0"/>
              <a:t> connect the backend to MySQL.</a:t>
            </a:r>
          </a:p>
          <a:p>
            <a:pPr>
              <a:spcAft>
                <a:spcPts val="1000"/>
              </a:spcAft>
              <a:defRPr sz="1800">
                <a:solidFill>
                  <a:srgbClr val="1E1E1E"/>
                </a:solidFill>
              </a:defRPr>
            </a:pPr>
            <a:r>
              <a:rPr dirty="0"/>
              <a:t>• FastAPI automatically exposes Swagger/</a:t>
            </a:r>
            <a:r>
              <a:rPr dirty="0" err="1"/>
              <a:t>OpenAPI</a:t>
            </a:r>
            <a:r>
              <a:rPr dirty="0"/>
              <a:t> documentation.</a:t>
            </a:r>
          </a:p>
        </p:txBody>
      </p:sp>
      <p:pic>
        <p:nvPicPr>
          <p:cNvPr id="4" name="Picture 3" descr="Swagger_API_Documentation.png"/>
          <p:cNvPicPr>
            <a:picLocks noChangeAspect="1"/>
          </p:cNvPicPr>
          <p:nvPr/>
        </p:nvPicPr>
        <p:blipFill>
          <a:blip r:embed="rId2"/>
          <a:stretch>
            <a:fillRect/>
          </a:stretch>
        </p:blipFill>
        <p:spPr>
          <a:xfrm>
            <a:off x="6400800" y="1417320"/>
            <a:ext cx="4937760" cy="402336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85800" y="411480"/>
            <a:ext cx="10789920" cy="594360"/>
          </a:xfrm>
          <a:prstGeom prst="rect">
            <a:avLst/>
          </a:prstGeom>
          <a:noFill/>
        </p:spPr>
        <p:txBody>
          <a:bodyPr wrap="none">
            <a:spAutoFit/>
          </a:bodyPr>
          <a:lstStyle/>
          <a:p>
            <a:pPr algn="ctr">
              <a:defRPr sz="3200" b="1">
                <a:solidFill>
                  <a:srgbClr val="0070C0"/>
                </a:solidFill>
              </a:defRPr>
            </a:pPr>
            <a:r>
              <a:t>PATIENT INTERFACE — ACTUAL PROJECT SCREENSHOTS</a:t>
            </a:r>
          </a:p>
        </p:txBody>
      </p:sp>
      <p:pic>
        <p:nvPicPr>
          <p:cNvPr id="3" name="Picture 2" descr="Home.png"/>
          <p:cNvPicPr>
            <a:picLocks noChangeAspect="1"/>
          </p:cNvPicPr>
          <p:nvPr/>
        </p:nvPicPr>
        <p:blipFill>
          <a:blip r:embed="rId2"/>
          <a:stretch>
            <a:fillRect/>
          </a:stretch>
        </p:blipFill>
        <p:spPr>
          <a:xfrm>
            <a:off x="502920" y="1325880"/>
            <a:ext cx="3611880" cy="2697480"/>
          </a:xfrm>
          <a:prstGeom prst="rect">
            <a:avLst/>
          </a:prstGeom>
        </p:spPr>
      </p:pic>
      <p:pic>
        <p:nvPicPr>
          <p:cNvPr id="4" name="Picture 3" descr="Patient_Dashboard.png"/>
          <p:cNvPicPr>
            <a:picLocks noChangeAspect="1"/>
          </p:cNvPicPr>
          <p:nvPr/>
        </p:nvPicPr>
        <p:blipFill>
          <a:blip r:embed="rId3"/>
          <a:stretch>
            <a:fillRect/>
          </a:stretch>
        </p:blipFill>
        <p:spPr>
          <a:xfrm>
            <a:off x="4297680" y="1325880"/>
            <a:ext cx="3611880" cy="2697480"/>
          </a:xfrm>
          <a:prstGeom prst="rect">
            <a:avLst/>
          </a:prstGeom>
        </p:spPr>
      </p:pic>
      <p:pic>
        <p:nvPicPr>
          <p:cNvPr id="5" name="Picture 4" descr="Doctor_List_Cardiology.png"/>
          <p:cNvPicPr>
            <a:picLocks noChangeAspect="1"/>
          </p:cNvPicPr>
          <p:nvPr/>
        </p:nvPicPr>
        <p:blipFill>
          <a:blip r:embed="rId4"/>
          <a:stretch>
            <a:fillRect/>
          </a:stretch>
        </p:blipFill>
        <p:spPr>
          <a:xfrm>
            <a:off x="8092440" y="1325880"/>
            <a:ext cx="3611880" cy="2697480"/>
          </a:xfrm>
          <a:prstGeom prst="rect">
            <a:avLst/>
          </a:prstGeom>
        </p:spPr>
      </p:pic>
      <p:pic>
        <p:nvPicPr>
          <p:cNvPr id="6" name="Picture 5" descr="Booking_Available_Slots.png"/>
          <p:cNvPicPr>
            <a:picLocks noChangeAspect="1"/>
          </p:cNvPicPr>
          <p:nvPr/>
        </p:nvPicPr>
        <p:blipFill>
          <a:blip r:embed="rId5"/>
          <a:stretch>
            <a:fillRect/>
          </a:stretch>
        </p:blipFill>
        <p:spPr>
          <a:xfrm>
            <a:off x="2377440" y="4343400"/>
            <a:ext cx="3611880" cy="2011680"/>
          </a:xfrm>
          <a:prstGeom prst="rect">
            <a:avLst/>
          </a:prstGeom>
        </p:spPr>
      </p:pic>
      <p:pic>
        <p:nvPicPr>
          <p:cNvPr id="7" name="Picture 6" descr="Booking_Success.png"/>
          <p:cNvPicPr>
            <a:picLocks noChangeAspect="1"/>
          </p:cNvPicPr>
          <p:nvPr/>
        </p:nvPicPr>
        <p:blipFill>
          <a:blip r:embed="rId6"/>
          <a:stretch>
            <a:fillRect/>
          </a:stretch>
        </p:blipFill>
        <p:spPr>
          <a:xfrm>
            <a:off x="6172200" y="4343400"/>
            <a:ext cx="3611880" cy="201168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85800" y="411480"/>
            <a:ext cx="10789920" cy="594360"/>
          </a:xfrm>
          <a:prstGeom prst="rect">
            <a:avLst/>
          </a:prstGeom>
          <a:noFill/>
        </p:spPr>
        <p:txBody>
          <a:bodyPr wrap="none">
            <a:spAutoFit/>
          </a:bodyPr>
          <a:lstStyle/>
          <a:p>
            <a:pPr algn="ctr">
              <a:defRPr sz="3200" b="1">
                <a:solidFill>
                  <a:srgbClr val="0070C0"/>
                </a:solidFill>
              </a:defRPr>
            </a:pPr>
            <a:r>
              <a:rPr dirty="0"/>
              <a:t>APPOINTMENT, PAYMENT &amp; NOTIFICATIONS</a:t>
            </a:r>
          </a:p>
        </p:txBody>
      </p:sp>
      <p:pic>
        <p:nvPicPr>
          <p:cNvPr id="3" name="Picture 2" descr="My_Appointments_Alias.png"/>
          <p:cNvPicPr>
            <a:picLocks noChangeAspect="1"/>
          </p:cNvPicPr>
          <p:nvPr/>
        </p:nvPicPr>
        <p:blipFill>
          <a:blip r:embed="rId2"/>
          <a:stretch>
            <a:fillRect/>
          </a:stretch>
        </p:blipFill>
        <p:spPr>
          <a:xfrm>
            <a:off x="502920" y="1325880"/>
            <a:ext cx="3611880" cy="2468880"/>
          </a:xfrm>
          <a:prstGeom prst="rect">
            <a:avLst/>
          </a:prstGeom>
        </p:spPr>
      </p:pic>
      <p:pic>
        <p:nvPicPr>
          <p:cNvPr id="4" name="Picture 3" descr="Payment_Method_Selected.png"/>
          <p:cNvPicPr>
            <a:picLocks noChangeAspect="1"/>
          </p:cNvPicPr>
          <p:nvPr/>
        </p:nvPicPr>
        <p:blipFill>
          <a:blip r:embed="rId3"/>
          <a:stretch>
            <a:fillRect/>
          </a:stretch>
        </p:blipFill>
        <p:spPr>
          <a:xfrm>
            <a:off x="4297680" y="1325880"/>
            <a:ext cx="3611880" cy="2468880"/>
          </a:xfrm>
          <a:prstGeom prst="rect">
            <a:avLst/>
          </a:prstGeom>
        </p:spPr>
      </p:pic>
      <p:pic>
        <p:nvPicPr>
          <p:cNvPr id="5" name="Picture 4" descr="Payment_Success_Receipt.png"/>
          <p:cNvPicPr>
            <a:picLocks noChangeAspect="1"/>
          </p:cNvPicPr>
          <p:nvPr/>
        </p:nvPicPr>
        <p:blipFill>
          <a:blip r:embed="rId4"/>
          <a:stretch>
            <a:fillRect/>
          </a:stretch>
        </p:blipFill>
        <p:spPr>
          <a:xfrm>
            <a:off x="8092440" y="1325880"/>
            <a:ext cx="3611880" cy="2468880"/>
          </a:xfrm>
          <a:prstGeom prst="rect">
            <a:avLst/>
          </a:prstGeom>
        </p:spPr>
      </p:pic>
      <p:pic>
        <p:nvPicPr>
          <p:cNvPr id="6" name="Picture 5" descr="Notifications_Page.png"/>
          <p:cNvPicPr>
            <a:picLocks noChangeAspect="1"/>
          </p:cNvPicPr>
          <p:nvPr/>
        </p:nvPicPr>
        <p:blipFill>
          <a:blip r:embed="rId5"/>
          <a:stretch>
            <a:fillRect/>
          </a:stretch>
        </p:blipFill>
        <p:spPr>
          <a:xfrm>
            <a:off x="4297680" y="4160520"/>
            <a:ext cx="3611880" cy="2011680"/>
          </a:xfrm>
          <a:prstGeom prst="rect">
            <a:avLst/>
          </a:prstGeom>
        </p:spPr>
      </p:pic>
      <p:pic>
        <p:nvPicPr>
          <p:cNvPr id="7" name="Picture 6" descr="My_Appointments_Alias.png"/>
          <p:cNvPicPr>
            <a:picLocks noChangeAspect="1"/>
          </p:cNvPicPr>
          <p:nvPr/>
        </p:nvPicPr>
        <p:blipFill>
          <a:blip r:embed="rId2"/>
          <a:stretch>
            <a:fillRect/>
          </a:stretch>
        </p:blipFill>
        <p:spPr>
          <a:xfrm>
            <a:off x="8092440" y="4160520"/>
            <a:ext cx="3611880" cy="2011680"/>
          </a:xfrm>
          <a:prstGeom prst="rect">
            <a:avLst/>
          </a:prstGeom>
        </p:spPr>
      </p:pic>
      <p:sp>
        <p:nvSpPr>
          <p:cNvPr id="8" name="TextBox 7"/>
          <p:cNvSpPr txBox="1"/>
          <p:nvPr/>
        </p:nvSpPr>
        <p:spPr>
          <a:xfrm>
            <a:off x="594360" y="6263640"/>
            <a:ext cx="10789920" cy="411480"/>
          </a:xfrm>
          <a:prstGeom prst="rect">
            <a:avLst/>
          </a:prstGeom>
          <a:noFill/>
        </p:spPr>
        <p:txBody>
          <a:bodyPr wrap="square">
            <a:spAutoFit/>
          </a:bodyPr>
          <a:lstStyle/>
          <a:p>
            <a:pPr>
              <a:spcAft>
                <a:spcPts val="1000"/>
              </a:spcAft>
              <a:defRPr sz="1300">
                <a:solidFill>
                  <a:srgbClr val="1E1E1E"/>
                </a:solidFill>
              </a:defRPr>
            </a:pPr>
            <a:r>
              <a:t>• Payment is a demo workflow; the backend records a successful payment and generates a receipt number.</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85800" y="411480"/>
            <a:ext cx="10789920" cy="594360"/>
          </a:xfrm>
          <a:prstGeom prst="rect">
            <a:avLst/>
          </a:prstGeom>
          <a:noFill/>
        </p:spPr>
        <p:txBody>
          <a:bodyPr wrap="none">
            <a:spAutoFit/>
          </a:bodyPr>
          <a:lstStyle/>
          <a:p>
            <a:pPr algn="ctr">
              <a:defRPr sz="3200" b="1">
                <a:solidFill>
                  <a:srgbClr val="0070C0"/>
                </a:solidFill>
              </a:defRPr>
            </a:pPr>
            <a:r>
              <a:t>ADMINISTRATION — ACTUAL PROJECT SCREENSHOTS</a:t>
            </a:r>
          </a:p>
        </p:txBody>
      </p:sp>
      <p:pic>
        <p:nvPicPr>
          <p:cNvPr id="3" name="Picture 2" descr="Admin_Dashboard.png"/>
          <p:cNvPicPr>
            <a:picLocks noChangeAspect="1"/>
          </p:cNvPicPr>
          <p:nvPr/>
        </p:nvPicPr>
        <p:blipFill>
          <a:blip r:embed="rId2"/>
          <a:stretch>
            <a:fillRect/>
          </a:stretch>
        </p:blipFill>
        <p:spPr>
          <a:xfrm>
            <a:off x="502920" y="1325880"/>
            <a:ext cx="3611880" cy="2651760"/>
          </a:xfrm>
          <a:prstGeom prst="rect">
            <a:avLst/>
          </a:prstGeom>
        </p:spPr>
      </p:pic>
      <p:pic>
        <p:nvPicPr>
          <p:cNvPr id="4" name="Picture 3" descr="Admin_Patients.png"/>
          <p:cNvPicPr>
            <a:picLocks noChangeAspect="1"/>
          </p:cNvPicPr>
          <p:nvPr/>
        </p:nvPicPr>
        <p:blipFill>
          <a:blip r:embed="rId3"/>
          <a:stretch>
            <a:fillRect/>
          </a:stretch>
        </p:blipFill>
        <p:spPr>
          <a:xfrm>
            <a:off x="4297680" y="1325880"/>
            <a:ext cx="3611880" cy="2651760"/>
          </a:xfrm>
          <a:prstGeom prst="rect">
            <a:avLst/>
          </a:prstGeom>
        </p:spPr>
      </p:pic>
      <p:pic>
        <p:nvPicPr>
          <p:cNvPr id="5" name="Picture 4" descr="Admin_Doctors_Before_Mutations.png"/>
          <p:cNvPicPr>
            <a:picLocks noChangeAspect="1"/>
          </p:cNvPicPr>
          <p:nvPr/>
        </p:nvPicPr>
        <p:blipFill>
          <a:blip r:embed="rId4"/>
          <a:stretch>
            <a:fillRect/>
          </a:stretch>
        </p:blipFill>
        <p:spPr>
          <a:xfrm>
            <a:off x="8092440" y="1325880"/>
            <a:ext cx="3611880" cy="2651760"/>
          </a:xfrm>
          <a:prstGeom prst="rect">
            <a:avLst/>
          </a:prstGeom>
        </p:spPr>
      </p:pic>
      <p:pic>
        <p:nvPicPr>
          <p:cNvPr id="6" name="Picture 5" descr="Doctor_Availability_Create_Success.png"/>
          <p:cNvPicPr>
            <a:picLocks noChangeAspect="1"/>
          </p:cNvPicPr>
          <p:nvPr/>
        </p:nvPicPr>
        <p:blipFill>
          <a:blip r:embed="rId5"/>
          <a:stretch>
            <a:fillRect/>
          </a:stretch>
        </p:blipFill>
        <p:spPr>
          <a:xfrm>
            <a:off x="2377440" y="4297680"/>
            <a:ext cx="3611880" cy="2011680"/>
          </a:xfrm>
          <a:prstGeom prst="rect">
            <a:avLst/>
          </a:prstGeom>
        </p:spPr>
      </p:pic>
      <p:pic>
        <p:nvPicPr>
          <p:cNvPr id="7" name="Picture 6" descr="Admin_Payments.png"/>
          <p:cNvPicPr>
            <a:picLocks noChangeAspect="1"/>
          </p:cNvPicPr>
          <p:nvPr/>
        </p:nvPicPr>
        <p:blipFill>
          <a:blip r:embed="rId6"/>
          <a:stretch>
            <a:fillRect/>
          </a:stretch>
        </p:blipFill>
        <p:spPr>
          <a:xfrm>
            <a:off x="6172200" y="4297680"/>
            <a:ext cx="3611880" cy="201168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85800" y="411480"/>
            <a:ext cx="10789920" cy="594360"/>
          </a:xfrm>
          <a:prstGeom prst="rect">
            <a:avLst/>
          </a:prstGeom>
          <a:noFill/>
        </p:spPr>
        <p:txBody>
          <a:bodyPr wrap="none">
            <a:spAutoFit/>
          </a:bodyPr>
          <a:lstStyle/>
          <a:p>
            <a:pPr algn="ctr">
              <a:defRPr sz="3200" b="1">
                <a:solidFill>
                  <a:srgbClr val="0070C0"/>
                </a:solidFill>
              </a:defRPr>
            </a:pPr>
            <a:r>
              <a:t>API TESTING &amp; EVIDENCE</a:t>
            </a:r>
          </a:p>
        </p:txBody>
      </p:sp>
      <p:pic>
        <p:nvPicPr>
          <p:cNvPr id="3" name="Picture 2" descr="API_Health_Response.png"/>
          <p:cNvPicPr>
            <a:picLocks noChangeAspect="1"/>
          </p:cNvPicPr>
          <p:nvPr/>
        </p:nvPicPr>
        <p:blipFill>
          <a:blip r:embed="rId2"/>
          <a:stretch>
            <a:fillRect/>
          </a:stretch>
        </p:blipFill>
        <p:spPr>
          <a:xfrm>
            <a:off x="502920" y="1325880"/>
            <a:ext cx="3611880" cy="2423160"/>
          </a:xfrm>
          <a:prstGeom prst="rect">
            <a:avLst/>
          </a:prstGeom>
        </p:spPr>
      </p:pic>
      <p:pic>
        <p:nvPicPr>
          <p:cNvPr id="4" name="Picture 3" descr="Public_Doctor_API_Response.png"/>
          <p:cNvPicPr>
            <a:picLocks noChangeAspect="1"/>
          </p:cNvPicPr>
          <p:nvPr/>
        </p:nvPicPr>
        <p:blipFill>
          <a:blip r:embed="rId3"/>
          <a:stretch>
            <a:fillRect/>
          </a:stretch>
        </p:blipFill>
        <p:spPr>
          <a:xfrm>
            <a:off x="4297680" y="1325880"/>
            <a:ext cx="3611880" cy="2423160"/>
          </a:xfrm>
          <a:prstGeom prst="rect">
            <a:avLst/>
          </a:prstGeom>
        </p:spPr>
      </p:pic>
      <p:pic>
        <p:nvPicPr>
          <p:cNvPr id="5" name="Picture 4" descr="OpenAPI_Raw_Schema.png"/>
          <p:cNvPicPr>
            <a:picLocks noChangeAspect="1"/>
          </p:cNvPicPr>
          <p:nvPr/>
        </p:nvPicPr>
        <p:blipFill>
          <a:blip r:embed="rId4"/>
          <a:stretch>
            <a:fillRect/>
          </a:stretch>
        </p:blipFill>
        <p:spPr>
          <a:xfrm>
            <a:off x="8092440" y="1325880"/>
            <a:ext cx="3611880" cy="2423160"/>
          </a:xfrm>
          <a:prstGeom prst="rect">
            <a:avLst/>
          </a:prstGeom>
        </p:spPr>
      </p:pic>
      <p:pic>
        <p:nvPicPr>
          <p:cNvPr id="6" name="Picture 5" descr="Protected_Admin_API_Unauthorized.png"/>
          <p:cNvPicPr>
            <a:picLocks noChangeAspect="1"/>
          </p:cNvPicPr>
          <p:nvPr/>
        </p:nvPicPr>
        <p:blipFill>
          <a:blip r:embed="rId5"/>
          <a:stretch>
            <a:fillRect/>
          </a:stretch>
        </p:blipFill>
        <p:spPr>
          <a:xfrm>
            <a:off x="4297680" y="4160520"/>
            <a:ext cx="3611880" cy="2057400"/>
          </a:xfrm>
          <a:prstGeom prst="rect">
            <a:avLst/>
          </a:prstGeom>
        </p:spPr>
      </p:pic>
      <p:sp>
        <p:nvSpPr>
          <p:cNvPr id="7" name="TextBox 6"/>
          <p:cNvSpPr txBox="1"/>
          <p:nvPr/>
        </p:nvSpPr>
        <p:spPr>
          <a:xfrm>
            <a:off x="685800" y="6263640"/>
            <a:ext cx="10515600" cy="411480"/>
          </a:xfrm>
          <a:prstGeom prst="rect">
            <a:avLst/>
          </a:prstGeom>
          <a:noFill/>
        </p:spPr>
        <p:txBody>
          <a:bodyPr wrap="square">
            <a:spAutoFit/>
          </a:bodyPr>
          <a:lstStyle/>
          <a:p>
            <a:pPr>
              <a:spcAft>
                <a:spcPts val="1000"/>
              </a:spcAft>
              <a:defRPr sz="1300">
                <a:solidFill>
                  <a:srgbClr val="1E1E1E"/>
                </a:solidFill>
              </a:defRPr>
            </a:pPr>
            <a:r>
              <a:t>• The project includes genuine browser/API captures.</a:t>
            </a:r>
          </a:p>
          <a:p>
            <a:pPr>
              <a:spcAft>
                <a:spcPts val="1000"/>
              </a:spcAft>
              <a:defRPr sz="1300">
                <a:solidFill>
                  <a:srgbClr val="1E1E1E"/>
                </a:solidFill>
              </a:defRPr>
            </a:pPr>
            <a:r>
              <a:t>• Testing report records HTTP smoke checks, API checks, database persistence checks and UI workflow validation.</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45F8C2-111B-5352-5128-7126DF285D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B54D73-0C98-1BCC-AF71-A634817E2D28}"/>
              </a:ext>
            </a:extLst>
          </p:cNvPr>
          <p:cNvSpPr>
            <a:spLocks noGrp="1"/>
          </p:cNvSpPr>
          <p:nvPr>
            <p:ph type="title"/>
          </p:nvPr>
        </p:nvSpPr>
        <p:spPr>
          <a:xfrm>
            <a:off x="2400869" y="283266"/>
            <a:ext cx="6564573" cy="805366"/>
          </a:xfrm>
        </p:spPr>
        <p:txBody>
          <a:bodyPr anchor="ctr">
            <a:noAutofit/>
          </a:bodyPr>
          <a:lstStyle/>
          <a:p>
            <a:r>
              <a:rPr lang="en-US" sz="3600" b="1" dirty="0">
                <a:solidFill>
                  <a:srgbClr val="0070C0"/>
                </a:solidFill>
              </a:rPr>
              <a:t>CONCLUSION AND FUTURE SCOPE</a:t>
            </a:r>
            <a:endParaRPr lang="en-US" sz="4000" b="1" dirty="0">
              <a:solidFill>
                <a:srgbClr val="0070C0"/>
              </a:solidFill>
            </a:endParaRPr>
          </a:p>
        </p:txBody>
      </p:sp>
      <p:sp>
        <p:nvSpPr>
          <p:cNvPr id="13" name="Slide Number Placeholder 5">
            <a:extLst>
              <a:ext uri="{FF2B5EF4-FFF2-40B4-BE49-F238E27FC236}">
                <a16:creationId xmlns:a16="http://schemas.microsoft.com/office/drawing/2014/main" id="{2DA0B0B4-0323-82D4-C481-9A75F01F0480}"/>
              </a:ext>
            </a:extLst>
          </p:cNvPr>
          <p:cNvSpPr>
            <a:spLocks noGrp="1"/>
          </p:cNvSpPr>
          <p:nvPr>
            <p:ph type="sldNum" sz="quarter" idx="12"/>
          </p:nvPr>
        </p:nvSpPr>
        <p:spPr>
          <a:xfrm>
            <a:off x="8610600" y="6356350"/>
            <a:ext cx="2743200" cy="365125"/>
          </a:xfrm>
        </p:spPr>
        <p:txBody>
          <a:bodyPr/>
          <a:lstStyle/>
          <a:p>
            <a:pPr>
              <a:spcAft>
                <a:spcPts val="600"/>
              </a:spcAft>
            </a:pPr>
            <a:fld id="{B961B71F-4B40-8942-BB88-E0F5C0B46E10}" type="slidenum">
              <a:rPr lang="en-US" smtClean="0"/>
              <a:pPr>
                <a:spcAft>
                  <a:spcPts val="600"/>
                </a:spcAft>
              </a:pPr>
              <a:t>20</a:t>
            </a:fld>
            <a:endParaRPr lang="en-US" dirty="0"/>
          </a:p>
        </p:txBody>
      </p:sp>
      <p:sp>
        <p:nvSpPr>
          <p:cNvPr id="5" name="TextBox 4">
            <a:extLst>
              <a:ext uri="{FF2B5EF4-FFF2-40B4-BE49-F238E27FC236}">
                <a16:creationId xmlns:a16="http://schemas.microsoft.com/office/drawing/2014/main" id="{A2CACD52-442A-4425-8FA5-B52334BE22EB}"/>
              </a:ext>
            </a:extLst>
          </p:cNvPr>
          <p:cNvSpPr txBox="1"/>
          <p:nvPr/>
        </p:nvSpPr>
        <p:spPr>
          <a:xfrm>
            <a:off x="2041236" y="1630877"/>
            <a:ext cx="6096000" cy="3970318"/>
          </a:xfrm>
          <a:prstGeom prst="rect">
            <a:avLst/>
          </a:prstGeom>
          <a:noFill/>
        </p:spPr>
        <p:txBody>
          <a:bodyPr wrap="square">
            <a:spAutoFit/>
          </a:bodyPr>
          <a:lstStyle/>
          <a:p>
            <a:r>
              <a:rPr b="1" dirty="0"/>
              <a:t>Conclusion</a:t>
            </a:r>
            <a:br>
              <a:rPr dirty="0"/>
            </a:br>
            <a:r>
              <a:rPr dirty="0"/>
              <a:t>CarePlus provides an integrated online appointment scheduling system.</a:t>
            </a:r>
            <a:br>
              <a:rPr dirty="0"/>
            </a:br>
            <a:r>
              <a:rPr dirty="0"/>
              <a:t>Patients can find doctors, check availability, book appointments, and manage appointments and notifications. </a:t>
            </a:r>
            <a:br>
              <a:rPr dirty="0"/>
            </a:br>
            <a:r>
              <a:rPr dirty="0"/>
              <a:t>Administrators can manage doctors, appointments, holidays, and payments. </a:t>
            </a:r>
            <a:br>
              <a:rPr dirty="0"/>
            </a:br>
            <a:r>
              <a:rPr dirty="0"/>
              <a:t>React, FastAPI, and MySQL provide the main application architecture. </a:t>
            </a:r>
            <a:br>
              <a:rPr dirty="0"/>
            </a:br>
            <a:r>
              <a:rPr b="1" dirty="0"/>
              <a:t>Future Scope</a:t>
            </a:r>
            <a:br>
              <a:rPr dirty="0"/>
            </a:br>
            <a:r>
              <a:rPr dirty="0"/>
              <a:t>Integration with a real payment gateway. </a:t>
            </a:r>
            <a:br>
              <a:rPr dirty="0"/>
            </a:br>
            <a:r>
              <a:rPr dirty="0"/>
              <a:t>Separate doctor portal and authentication. </a:t>
            </a:r>
            <a:br>
              <a:rPr dirty="0"/>
            </a:br>
            <a:r>
              <a:rPr dirty="0"/>
              <a:t>Cloud deployment and scalability improvements. </a:t>
            </a:r>
            <a:br>
              <a:rPr dirty="0"/>
            </a:br>
            <a:r>
              <a:rPr dirty="0"/>
              <a:t>Additional healthcare services and integrations</a:t>
            </a:r>
            <a:endParaRPr lang="en-US" dirty="0"/>
          </a:p>
        </p:txBody>
      </p:sp>
    </p:spTree>
    <p:extLst>
      <p:ext uri="{BB962C8B-B14F-4D97-AF65-F5344CB8AC3E}">
        <p14:creationId xmlns:p14="http://schemas.microsoft.com/office/powerpoint/2010/main" val="174900945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6691" y="1457855"/>
            <a:ext cx="10789920" cy="594360"/>
          </a:xfrm>
          <a:prstGeom prst="rect">
            <a:avLst/>
          </a:prstGeom>
          <a:noFill/>
        </p:spPr>
        <p:txBody>
          <a:bodyPr wrap="none">
            <a:spAutoFit/>
          </a:bodyPr>
          <a:lstStyle/>
          <a:p>
            <a:pPr algn="ctr">
              <a:defRPr sz="3200" b="1">
                <a:solidFill>
                  <a:srgbClr val="0070C0"/>
                </a:solidFill>
              </a:defRPr>
            </a:pPr>
            <a:r>
              <a:rPr dirty="0"/>
              <a:t>THANK YOU</a:t>
            </a:r>
          </a:p>
        </p:txBody>
      </p:sp>
      <p:sp>
        <p:nvSpPr>
          <p:cNvPr id="3" name="TextBox 2"/>
          <p:cNvSpPr txBox="1"/>
          <p:nvPr/>
        </p:nvSpPr>
        <p:spPr>
          <a:xfrm>
            <a:off x="1828800" y="2286000"/>
            <a:ext cx="8503920" cy="1828800"/>
          </a:xfrm>
          <a:prstGeom prst="rect">
            <a:avLst/>
          </a:prstGeom>
          <a:noFill/>
        </p:spPr>
        <p:txBody>
          <a:bodyPr wrap="none">
            <a:spAutoFit/>
          </a:bodyPr>
          <a:lstStyle/>
          <a:p>
            <a:pPr algn="ctr">
              <a:defRPr sz="3400" b="1">
                <a:solidFill>
                  <a:srgbClr val="0070C0"/>
                </a:solidFill>
              </a:defRPr>
            </a:pPr>
            <a:r>
              <a:rPr dirty="0"/>
              <a:t>QUESTIONS &amp; DISCUSSION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8260</TotalTime>
  <Words>1318</Words>
  <Application>Microsoft Office PowerPoint</Application>
  <PresentationFormat>Widescreen</PresentationFormat>
  <Paragraphs>291</Paragraphs>
  <Slides>21</Slides>
  <Notes>11</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21</vt:i4>
      </vt:variant>
    </vt:vector>
  </HeadingPairs>
  <TitlesOfParts>
    <vt:vector size="27" baseType="lpstr">
      <vt:lpstr>Arial</vt:lpstr>
      <vt:lpstr>Calibri</vt:lpstr>
      <vt:lpstr>Calibri Light</vt:lpstr>
      <vt:lpstr>Times New Roman</vt:lpstr>
      <vt:lpstr>Office Theme</vt:lpstr>
      <vt:lpstr>Custom Design</vt:lpstr>
      <vt:lpstr>Secure and Scalable Healthcare Appointment Scheduling    Through Distributed Backend Development </vt:lpstr>
      <vt:lpstr>GROUP NUMBER:8</vt:lpstr>
      <vt:lpstr>ABSTRACT</vt:lpstr>
      <vt:lpstr>PowerPoint Presentation</vt:lpstr>
      <vt:lpstr>EXISTING SYSTEM</vt:lpstr>
      <vt:lpstr>PROBLEM</vt:lpstr>
      <vt:lpstr>SOLUTION(Contribution)</vt:lpstr>
      <vt:lpstr>Objectives </vt:lpstr>
      <vt:lpstr>Modules</vt:lpstr>
      <vt:lpstr>AUTHENTICATION &amp; SECURITY </vt:lpstr>
      <vt:lpstr>SOFTWARE REQUIREMENTS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CONCLUSION AND FUTURE SCOPE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SHAHANA BANO</dc:creator>
  <cp:lastModifiedBy>SwamiRaghavendraPrasad Chelle</cp:lastModifiedBy>
  <cp:revision>102</cp:revision>
  <dcterms:created xsi:type="dcterms:W3CDTF">2022-05-20T10:20:31Z</dcterms:created>
  <dcterms:modified xsi:type="dcterms:W3CDTF">2026-10-01T18:57:12Z</dcterms:modified>
</cp:coreProperties>
</file>